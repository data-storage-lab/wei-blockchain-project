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63"/>
  </p:notesMasterIdLst>
  <p:sldIdLst>
    <p:sldId id="256" r:id="rId2"/>
    <p:sldId id="257" r:id="rId3"/>
    <p:sldId id="346" r:id="rId4"/>
    <p:sldId id="258" r:id="rId5"/>
    <p:sldId id="337" r:id="rId6"/>
    <p:sldId id="338" r:id="rId7"/>
    <p:sldId id="284" r:id="rId8"/>
    <p:sldId id="288" r:id="rId9"/>
    <p:sldId id="291" r:id="rId10"/>
    <p:sldId id="331" r:id="rId11"/>
    <p:sldId id="290" r:id="rId12"/>
    <p:sldId id="286" r:id="rId13"/>
    <p:sldId id="339" r:id="rId14"/>
    <p:sldId id="276" r:id="rId15"/>
    <p:sldId id="262" r:id="rId16"/>
    <p:sldId id="289" r:id="rId17"/>
    <p:sldId id="313" r:id="rId18"/>
    <p:sldId id="344" r:id="rId19"/>
    <p:sldId id="266" r:id="rId20"/>
    <p:sldId id="278" r:id="rId21"/>
    <p:sldId id="322" r:id="rId22"/>
    <p:sldId id="325" r:id="rId23"/>
    <p:sldId id="265" r:id="rId24"/>
    <p:sldId id="347" r:id="rId25"/>
    <p:sldId id="333" r:id="rId26"/>
    <p:sldId id="335" r:id="rId27"/>
    <p:sldId id="336" r:id="rId28"/>
    <p:sldId id="300" r:id="rId29"/>
    <p:sldId id="318" r:id="rId30"/>
    <p:sldId id="332" r:id="rId31"/>
    <p:sldId id="345" r:id="rId32"/>
    <p:sldId id="315" r:id="rId33"/>
    <p:sldId id="349" r:id="rId34"/>
    <p:sldId id="314" r:id="rId35"/>
    <p:sldId id="340" r:id="rId36"/>
    <p:sldId id="342" r:id="rId37"/>
    <p:sldId id="301" r:id="rId38"/>
    <p:sldId id="329" r:id="rId39"/>
    <p:sldId id="302" r:id="rId40"/>
    <p:sldId id="316" r:id="rId41"/>
    <p:sldId id="351" r:id="rId42"/>
    <p:sldId id="352" r:id="rId43"/>
    <p:sldId id="306" r:id="rId44"/>
    <p:sldId id="307" r:id="rId45"/>
    <p:sldId id="268" r:id="rId46"/>
    <p:sldId id="298" r:id="rId47"/>
    <p:sldId id="350" r:id="rId48"/>
    <p:sldId id="269" r:id="rId49"/>
    <p:sldId id="308" r:id="rId50"/>
    <p:sldId id="321" r:id="rId51"/>
    <p:sldId id="296" r:id="rId52"/>
    <p:sldId id="319" r:id="rId53"/>
    <p:sldId id="327" r:id="rId54"/>
    <p:sldId id="309" r:id="rId55"/>
    <p:sldId id="323" r:id="rId56"/>
    <p:sldId id="324" r:id="rId57"/>
    <p:sldId id="330" r:id="rId58"/>
    <p:sldId id="326" r:id="rId59"/>
    <p:sldId id="275" r:id="rId60"/>
    <p:sldId id="343" r:id="rId61"/>
    <p:sldId id="334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8D048-A743-4CB3-95DC-248C98EE784A}" type="datetimeFigureOut"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8213C-D1F3-422C-9D3E-62DC1374E1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48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yahoo.com/news/crypto-exchange-gemini-suffers-485m-234234084.html?guccounter=1&amp;guce_referrer=aHR0cHM6Ly93d3cuZ29vZ2xlLmNvbS8&amp;guce_referrer_sig=AQAAAHnAciOEHpS1ivqapIcBKSXldxL7170SchE_M0h-2DiYUKyzoQIYZw5Y1ioZLpScTIZlw1smuojpzAP1_d3ZWNdqyOjNFAF7_2ANPBj3PyeISqnLnDz3hATje2vsSiy7_rOshtKNZe4R-tgczYaVDDH9jFCzxYeu4LrRQQ8HqM6o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indesk.com/news-analysis/2025/10/21/crypto-s-decentralized-illusion-shattered-again-by-another-aws-meltdown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medium.com/%40Alexnomads/aws-blockchain-post-mortem-report-e6c89b810f3d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yahoo.com/news/solana-says-back-running-surge-094958370.htm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reddit.com/r/CryptoCurrency/comments/psnc05/solana_says_bots_generated_transactions_that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yahoo.com/news/solana-says-back-running-surge-094958370.html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reddit.com/r/CryptoCurrency/comments/psnc05/solana_says_bots_generated_transactions_that/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rmit.com/articles/article.aspx?p=2955143&amp;seqNum=2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hyperledger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l.acm.org/doi/pdf/10.1145/3190508.3190538" TargetMode="Externa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blockdata/forbes-blockchain-50-data-deep-dive-117fc230822f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ar.nsf.gov/servlets/purl/10320885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ar.nsf.gov/servlets/purl/10320885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10.25017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Put committee members or advisor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54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8247E-0F18-EFA4-4C0F-686C4AC0E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40FB0-FCE7-3EE5-8765-16788DDDB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29703-D266-C2E1-3ADF-893A637F7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Add a key message here: Blockchain is important and promising</a:t>
            </a:r>
          </a:p>
          <a:p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Dig deeper, why they used Fabric</a:t>
            </a:r>
          </a:p>
          <a:p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Put the citation here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49129-F9AB-4963-8B11-2478148A5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2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Add a key message here: Blockchain is important and promising</a:t>
            </a:r>
          </a:p>
          <a:p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Dig deeper, why they used Fabric</a:t>
            </a:r>
          </a:p>
          <a:p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Put the citation here </a:t>
            </a:r>
          </a:p>
          <a:p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FF0000"/>
                </a:solidFill>
                <a:ea typeface="Calibri"/>
                <a:cs typeface="Calibri"/>
              </a:rPr>
              <a:t>What made Fabric unique, explain Fabric is need from technical perspective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70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8CF1D-59B9-CF8B-248E-9B40AA71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AD840-914D-A819-BF08-A6F4BD1A1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1105B-C544-77FB-D595-B031E60C9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https://www.ibm.com/think/topics/benefits-of-blockchain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2BD96-E7B6-C243-AECE-003C177C5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9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9F891-504F-F160-6C70-5E765AE9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2D0AF-4F47-D456-278A-DEEFB8851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FA56C-B684-CE8A-9DAA-208648EC1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https://www.ibm.com/think/topics/benefits-of-blockchain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2E978-953A-D950-DF92-01AFF6B45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00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finance.yahoo.com/news/crypto-exchange-gemini-suffers-485m-234234084.html?guccounter=1&amp;guce_referrer=aHR0cHM6Ly93d3cuZ29vZ2xlLmNvbS8&amp;guce_referrer_sig=AQAAAHnAciOEHpS1ivqapIcBKSXldxL7170SchE_M0h-2DiYUKyzoQIYZw5Y1ioZLpScTIZlw1smuojpzAP1_d3ZWNdqyOjNFAF7_2ANPBj3PyeISqnLnDz3hATje2vsSiy7_rOshtKNZe4R-tgczYaVDDH9jFCzxYeu4LrRQQ8HqM6o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92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https://www.coindesk.com/news-analysis/2025/10/21/crypto-s-decentralized-illusion-shattered-again-by-another-aws-meltdown</a:t>
            </a:r>
            <a:endParaRPr lang="en-US" dirty="0"/>
          </a:p>
          <a:p>
            <a:r>
              <a:rPr lang="en-US" dirty="0">
                <a:hlinkClick r:id="rId4"/>
              </a:rPr>
              <a:t>https://medium.com/%40Alexnomads/aws-blockchain-post-mortem-report-e6c89b810f3d</a:t>
            </a:r>
            <a:endParaRPr lang="en-US" dirty="0"/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Weird case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Refine the flow to make it more clear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49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https://finance.yahoo.com/news/solana-says-back-running-surge-094958370.html</a:t>
            </a:r>
            <a:endParaRPr lang="en-US" dirty="0"/>
          </a:p>
          <a:p>
            <a:r>
              <a:rPr lang="en-US" dirty="0">
                <a:hlinkClick r:id="rId4"/>
              </a:rPr>
              <a:t>https://www.reddit.com/r/CryptoCurrency/comments/psnc05/solana_says_bots_generated_transactions_that/</a:t>
            </a:r>
            <a:r>
              <a:rPr lang="en-US" dirty="0"/>
              <a:t> </a:t>
            </a:r>
          </a:p>
          <a:p>
            <a:r>
              <a:rPr lang="en-US" dirty="0">
                <a:ea typeface="Calibri"/>
                <a:cs typeface="Calibri"/>
              </a:rPr>
              <a:t>Mention this in the speech that failure events are due to different reasons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02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566C-50A4-9C70-8292-DD9E03507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013BE-179A-8657-6B6E-8DC4FC65C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A9791-D79F-1087-4885-AB876433E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https://finance.yahoo.com/news/solana-says-back-running-surge-094958370.html</a:t>
            </a:r>
            <a:endParaRPr lang="en-US"/>
          </a:p>
          <a:p>
            <a:r>
              <a:rPr lang="en-US">
                <a:hlinkClick r:id="rId4"/>
              </a:rPr>
              <a:t>https://www.reddit.com/r/CryptoCurrency/comments/psnc05/solana_says_bots_generated_transactions_that/</a:t>
            </a:r>
            <a:r>
              <a:rPr lang="en-US"/>
              <a:t>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02AC2-6439-876F-4627-C84803E98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56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Put </a:t>
            </a:r>
            <a:r>
              <a:rPr lang="en-US" dirty="0" err="1">
                <a:ea typeface="Calibri"/>
                <a:cs typeface="Calibri"/>
              </a:rPr>
              <a:t>blockbench</a:t>
            </a:r>
            <a:r>
              <a:rPr lang="en-US" dirty="0">
                <a:ea typeface="Calibri"/>
                <a:cs typeface="Calibri"/>
              </a:rPr>
              <a:t> paper here</a:t>
            </a:r>
          </a:p>
          <a:p>
            <a:r>
              <a:rPr lang="en-US" dirty="0">
                <a:ea typeface="Calibri"/>
                <a:cs typeface="Calibri"/>
              </a:rPr>
              <a:t>Red block at the </a:t>
            </a:r>
            <a:r>
              <a:rPr lang="en-US" dirty="0" err="1">
                <a:ea typeface="Calibri"/>
                <a:cs typeface="Calibri"/>
              </a:rPr>
              <a:t>rigth</a:t>
            </a:r>
            <a:r>
              <a:rPr lang="en-US" dirty="0">
                <a:ea typeface="Calibri"/>
                <a:cs typeface="Calibri"/>
              </a:rPr>
              <a:t> to deliver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151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Directly go to limitations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93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2480-D21D-6D20-B6BE-38AE5DF90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C361D-88D5-D9D5-FBAD-7B8AA4E98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D99F7-81DE-1A17-0442-A6A4744C7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Directly go to 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DC0E1-A0E0-F213-208D-377620DBC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26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https://www.researchgate.net/profile/Siamak-Solat/publication/349537863_Permissioned_vs_Permissionless_Blockchain_How_and_Why_There_Is_Only_One_Right_Choice/links/64ea6a700453074fbdb663ef/Permissioned-vs-Permissionless-Blockchain-How-and-Why-There-Is-Only-One-Right-Choice.pdf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72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https://www.informit.com/articles/article.aspx?p=2955143&amp;seqNum=2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Add a title to this figure (e.g., IBM blockchain system)</a:t>
            </a:r>
          </a:p>
          <a:p>
            <a:r>
              <a:rPr lang="en-US" dirty="0">
                <a:ea typeface="Calibri"/>
                <a:cs typeface="Calibri"/>
              </a:rPr>
              <a:t>Move this slide to BG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70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https://www.ibm.com/think/topics/hyperledger</a:t>
            </a:r>
            <a:endParaRPr lang="en-US" dirty="0"/>
          </a:p>
          <a:p>
            <a:r>
              <a:rPr lang="en-US" dirty="0">
                <a:hlinkClick r:id="rId4"/>
              </a:rPr>
              <a:t>https://dl.acm.org/doi/pdf/10.1145/3190508.3190538</a:t>
            </a:r>
            <a:r>
              <a:rPr lang="en-US" dirty="0"/>
              <a:t>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What is the purpose of separating execution from consensus?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Put some company icons here to show its popularity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491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Mention this is a starting point</a:t>
            </a:r>
          </a:p>
          <a:p>
            <a:r>
              <a:rPr lang="en-US" dirty="0">
                <a:hlinkClick r:id="rId3"/>
              </a:rPr>
              <a:t>Forbes Blockchain 50 Data Deep Dive | by BLOCKDATA | </a:t>
            </a:r>
            <a:r>
              <a:rPr lang="en-US" dirty="0" err="1">
                <a:hlinkClick r:id="rId3"/>
              </a:rPr>
              <a:t>Blockdata</a:t>
            </a:r>
            <a:r>
              <a:rPr lang="en-US" dirty="0">
                <a:hlinkClick r:id="rId3"/>
              </a:rPr>
              <a:t> | Medium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40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Mention Org= enterprise can be one company, provide some context</a:t>
            </a:r>
          </a:p>
          <a:p>
            <a:r>
              <a:rPr lang="en-US" dirty="0">
                <a:ea typeface="Calibri"/>
                <a:cs typeface="Calibri"/>
              </a:rPr>
              <a:t>Mention what one transaction can be, like making a bank transaction and alter what is stored in the ledger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07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/>
              <a:t>abnormal conditions with diff faults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Courier New"/>
              <a:buChar char="o"/>
            </a:pPr>
            <a:r>
              <a:rPr lang="en-US" dirty="0"/>
              <a:t>Like one peer is down, what will happen?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628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Kubernetes based testbed</a:t>
            </a:r>
          </a:p>
          <a:p>
            <a:r>
              <a:rPr lang="en-US">
                <a:ea typeface="Calibri"/>
                <a:cs typeface="Calibri"/>
              </a:rPr>
              <a:t>What we can do using this testbed, like a control framework</a:t>
            </a:r>
          </a:p>
          <a:p>
            <a:r>
              <a:rPr lang="en-US">
                <a:ea typeface="Calibri"/>
                <a:cs typeface="Calibri"/>
              </a:rPr>
              <a:t>Add boxes at side 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Different ways to pick configurations, possible way to prioritize configurations (random, Myra's work, domain knowledge), configuration selector</a:t>
            </a: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998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6F52-D9EF-109B-7517-15E59792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096D8-FE09-C056-4BF2-8027E655C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09913-3FCD-B8AB-3338-2B4134C28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Some tools to given different </a:t>
            </a:r>
            <a:r>
              <a:rPr lang="en-US" dirty="0" err="1">
                <a:ea typeface="Calibri"/>
                <a:cs typeface="Calibri"/>
              </a:rPr>
              <a:t>tps</a:t>
            </a:r>
            <a:r>
              <a:rPr lang="en-US" dirty="0">
                <a:ea typeface="Calibri"/>
                <a:cs typeface="Calibri"/>
              </a:rPr>
              <a:t>, automatically choose a proper combination of configuration to achieve appropriate performance</a:t>
            </a:r>
          </a:p>
          <a:p>
            <a:r>
              <a:rPr lang="en-US" dirty="0">
                <a:ea typeface="Calibri"/>
                <a:cs typeface="Calibri"/>
              </a:rPr>
              <a:t>Strategy to navigate all combinations</a:t>
            </a:r>
          </a:p>
          <a:p>
            <a:r>
              <a:rPr lang="en-US" dirty="0">
                <a:ea typeface="Calibri"/>
                <a:cs typeface="Calibri"/>
              </a:rPr>
              <a:t>Some specific examples how to define a policy/scenario</a:t>
            </a:r>
          </a:p>
          <a:p>
            <a:r>
              <a:rPr lang="en-US" dirty="0">
                <a:ea typeface="Calibri"/>
                <a:cs typeface="Calibri"/>
              </a:rPr>
              <a:t>Start some randomly values first, there might be dependencies between them, try based on domain knowledge so far</a:t>
            </a:r>
          </a:p>
          <a:p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/>
              <a:t>Scenarios to emphasize</a:t>
            </a:r>
            <a:endParaRPr lang="en-US" dirty="0"/>
          </a:p>
          <a:p>
            <a:pPr marL="742950" lvl="1" indent="-285750">
              <a:buFont typeface="Courier New,monospace"/>
              <a:buChar char="o"/>
            </a:pPr>
            <a:endParaRPr lang="en-US" dirty="0"/>
          </a:p>
          <a:p>
            <a:pPr marL="742950" lvl="1" indent="-285750">
              <a:buFont typeface="Courier New,monospace"/>
              <a:buChar char="o"/>
            </a:pPr>
            <a:r>
              <a:rPr lang="en-US"/>
              <a:t>Recommendation to optimize for next steps</a:t>
            </a:r>
            <a:endParaRPr lang="en-US" dirty="0"/>
          </a:p>
          <a:p>
            <a:pPr marL="742950" lvl="1" indent="-285750">
              <a:buFont typeface="Courier New,monospace"/>
              <a:buChar char="o"/>
            </a:pPr>
            <a:r>
              <a:rPr lang="en-US"/>
              <a:t>Consider the config policy as the "end product"</a:t>
            </a:r>
            <a:endParaRPr lang="en-US" dirty="0"/>
          </a:p>
          <a:p>
            <a:pPr marL="742950" lvl="1" indent="-285750">
              <a:buFont typeface="Courier New,monospace"/>
              <a:buChar char="o"/>
            </a:pPr>
            <a:r>
              <a:rPr lang="en-US" dirty="0"/>
              <a:t>Testing scenarios, some strategy to pick scenarios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97F99-B286-8E04-A91B-A09F947CB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044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57300" lvl="2" indent="-342900">
              <a:buFont typeface="Wingdings,Sans-Serif"/>
              <a:buChar char="•"/>
            </a:pPr>
            <a:r>
              <a:rPr lang="en-US">
                <a:solidFill>
                  <a:srgbClr val="FF0000"/>
                </a:solidFill>
              </a:rPr>
              <a:t>Extend the fault injection framework to more </a:t>
            </a:r>
            <a:r>
              <a:rPr lang="en-US" err="1">
                <a:solidFill>
                  <a:srgbClr val="FF0000"/>
                </a:solidFill>
              </a:rPr>
              <a:t>componentsother</a:t>
            </a:r>
            <a:r>
              <a:rPr lang="en-US">
                <a:solidFill>
                  <a:srgbClr val="FF0000"/>
                </a:solidFill>
              </a:rPr>
              <a:t> than CouchDB related parts?</a:t>
            </a:r>
            <a:endParaRPr lang="en-US" dirty="0"/>
          </a:p>
          <a:p>
            <a:pPr marL="1714500" lvl="3" indent="-342900">
              <a:buFont typeface="Arial,Sans-Serif"/>
              <a:buChar char="•"/>
            </a:pPr>
            <a:r>
              <a:rPr lang="en-US">
                <a:solidFill>
                  <a:srgbClr val="FF0000"/>
                </a:solidFill>
              </a:rPr>
              <a:t>More error patterns? (Other than error codes)</a:t>
            </a:r>
            <a:endParaRPr lang="en-US" dirty="0"/>
          </a:p>
          <a:p>
            <a:pPr marL="1714500" lvl="3" indent="-342900">
              <a:buFont typeface="Arial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More involved components? (</a:t>
            </a:r>
            <a:r>
              <a:rPr lang="en-US" dirty="0" err="1">
                <a:solidFill>
                  <a:srgbClr val="FF0000"/>
                </a:solidFill>
              </a:rPr>
              <a:t>Orderers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US" dirty="0"/>
          </a:p>
          <a:p>
            <a:pPr marL="1714500" lvl="3" indent="-342900">
              <a:buFont typeface="Arial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More cross layer faults?</a:t>
            </a:r>
            <a:endParaRPr lang="en-US" dirty="0"/>
          </a:p>
          <a:p>
            <a:pPr marL="1257300" lvl="2" indent="-342900">
              <a:buFont typeface="Wingdings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New contribution: Consider resource constraint, </a:t>
            </a:r>
            <a:r>
              <a:rPr lang="en-US">
                <a:solidFill>
                  <a:srgbClr val="FF0000"/>
                </a:solidFill>
              </a:rPr>
              <a:t>imbalanced resource</a:t>
            </a:r>
            <a:r>
              <a:rPr lang="en-US" dirty="0">
                <a:solidFill>
                  <a:srgbClr val="FF0000"/>
                </a:solidFill>
              </a:rPr>
              <a:t> allocation, infra allocation strategy</a:t>
            </a:r>
            <a:endParaRPr lang="en-US" dirty="0"/>
          </a:p>
          <a:p>
            <a:pPr marL="1257300" lvl="2" indent="-342900">
              <a:buFont typeface="Wingdings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Identify some opportunities to tune the configuration </a:t>
            </a:r>
            <a:r>
              <a:rPr lang="en-US">
                <a:solidFill>
                  <a:srgbClr val="FF0000"/>
                </a:solidFill>
              </a:rPr>
              <a:t>to improve</a:t>
            </a:r>
            <a:r>
              <a:rPr lang="en-US" dirty="0">
                <a:solidFill>
                  <a:srgbClr val="FF0000"/>
                </a:solidFill>
              </a:rPr>
              <a:t> allocation/overall performance</a:t>
            </a:r>
            <a:endParaRPr lang="en-US" dirty="0"/>
          </a:p>
          <a:p>
            <a:pPr marL="1257300" lvl="2" indent="-342900">
              <a:buFont typeface="Wingdings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Expose the gap, giving the same amount of resource</a:t>
            </a:r>
            <a:endParaRPr lang="en-US" dirty="0"/>
          </a:p>
          <a:p>
            <a:pPr marL="1257300" lvl="2" indent="-342900">
              <a:buFont typeface="Wingdings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Survey some </a:t>
            </a:r>
            <a:r>
              <a:rPr lang="en-US" b="1" dirty="0">
                <a:solidFill>
                  <a:srgbClr val="FF0000"/>
                </a:solidFill>
              </a:rPr>
              <a:t>resource utilization</a:t>
            </a:r>
            <a:r>
              <a:rPr lang="en-US" dirty="0">
                <a:solidFill>
                  <a:srgbClr val="FF0000"/>
                </a:solidFill>
              </a:rPr>
              <a:t> related works</a:t>
            </a:r>
            <a:endParaRPr lang="en-US" dirty="0"/>
          </a:p>
          <a:p>
            <a:pPr marL="1257300" lvl="2" indent="-342900">
              <a:buFont typeface="Wingdings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Fail stop, fail slow</a:t>
            </a:r>
            <a:endParaRPr lang="en-US" dirty="0"/>
          </a:p>
          <a:p>
            <a:pPr marL="1257300" lvl="2" indent="-342900">
              <a:buFont typeface="Wingdings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Design the allocation plan</a:t>
            </a:r>
            <a:endParaRPr lang="en-US" dirty="0"/>
          </a:p>
          <a:p>
            <a:pPr marL="1257300" lvl="2" indent="-342900">
              <a:buFont typeface="Wingdings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Some phases, different phases may be sensitive to </a:t>
            </a:r>
            <a:r>
              <a:rPr lang="en-US">
                <a:solidFill>
                  <a:srgbClr val="FF0000"/>
                </a:solidFill>
              </a:rPr>
              <a:t>resource allocation</a:t>
            </a:r>
            <a:endParaRPr lang="en-US" dirty="0" err="1"/>
          </a:p>
          <a:p>
            <a:pPr marL="1257300" lvl="2" indent="-342900">
              <a:buFont typeface="Wingdings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Hypothesis? RQ? Design experiments to answer </a:t>
            </a:r>
            <a:r>
              <a:rPr lang="en-US">
                <a:solidFill>
                  <a:srgbClr val="FF0000"/>
                </a:solidFill>
              </a:rPr>
              <a:t>those questions</a:t>
            </a:r>
            <a:endParaRPr lang="en-US" dirty="0" err="1"/>
          </a:p>
          <a:p>
            <a:pPr marL="1257300" lvl="2" indent="-342900">
              <a:buFont typeface="Wingdings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Be consistent regarding the experiments (setup, scale)</a:t>
            </a:r>
            <a:endParaRPr lang="en-US" dirty="0"/>
          </a:p>
          <a:p>
            <a:pPr marL="1257300" lvl="2" indent="-342900">
              <a:buFont typeface="Wingdings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Keep finding: Motivation, find some performance </a:t>
            </a:r>
            <a:r>
              <a:rPr lang="en-US">
                <a:solidFill>
                  <a:srgbClr val="FF0000"/>
                </a:solidFill>
              </a:rPr>
              <a:t>degradation cases</a:t>
            </a:r>
            <a:r>
              <a:rPr lang="en-US" dirty="0">
                <a:solidFill>
                  <a:srgbClr val="FF0000"/>
                </a:solidFill>
              </a:rPr>
              <a:t>, </a:t>
            </a:r>
            <a:r>
              <a:rPr lang="en-US" dirty="0" err="1">
                <a:solidFill>
                  <a:srgbClr val="FF0000"/>
                </a:solidFill>
              </a:rPr>
              <a:t>ntwk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congetion</a:t>
            </a:r>
            <a:r>
              <a:rPr lang="en-US" dirty="0">
                <a:solidFill>
                  <a:srgbClr val="FF0000"/>
                </a:solidFill>
              </a:rPr>
              <a:t>, performance bottleneck</a:t>
            </a:r>
            <a:endParaRPr lang="en-US" dirty="0"/>
          </a:p>
          <a:p>
            <a:pPr marL="1257300" lvl="2" indent="-342900">
              <a:buFont typeface="Wingdings,Sans-Serif"/>
              <a:buChar char="•"/>
            </a:pPr>
            <a:endParaRPr lang="en-US" dirty="0"/>
          </a:p>
          <a:p>
            <a:pPr marL="1257300" lvl="2" indent="-342900">
              <a:buFont typeface="Wingdings,Sans-Serif"/>
              <a:buChar char="•"/>
            </a:pPr>
            <a:r>
              <a:rPr lang="en-US" dirty="0">
                <a:solidFill>
                  <a:srgbClr val="FF0000"/>
                </a:solidFill>
              </a:rPr>
              <a:t>Good answers to "Why fabric?"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469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BE84-4B0D-98D1-DA35-2F5AE558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7BB0B-F590-A14C-D110-6A053685D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1664A-D258-2447-2BBB-9BAD2A146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Have some scripts to setup the cluster</a:t>
            </a:r>
          </a:p>
          <a:p>
            <a:r>
              <a:rPr lang="en-US" dirty="0">
                <a:ea typeface="Calibri"/>
                <a:cs typeface="Calibri"/>
              </a:rPr>
              <a:t>Avoid using "tune"</a:t>
            </a:r>
          </a:p>
          <a:p>
            <a:r>
              <a:rPr lang="en-US" dirty="0">
                <a:ea typeface="Calibri"/>
                <a:cs typeface="Calibri"/>
              </a:rPr>
              <a:t>Different config lead to greatly changed performance, not linearly</a:t>
            </a:r>
          </a:p>
          <a:p>
            <a:r>
              <a:rPr lang="en-US" dirty="0">
                <a:ea typeface="Calibri"/>
                <a:cs typeface="Calibri"/>
              </a:rPr>
              <a:t>Affect throughput by what percentage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A09C5-F1D5-E282-397E-8EE2285DD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177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Describe the colors, x axis... first, describe the general trend</a:t>
            </a:r>
          </a:p>
          <a:p>
            <a:r>
              <a:rPr lang="en-US" dirty="0">
                <a:ea typeface="Calibri"/>
                <a:cs typeface="Calibri"/>
              </a:rPr>
              <a:t>Describe why this is the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539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E95E-8813-B957-6D25-83214C93B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D1068-C404-18A6-E4E7-42EB4ECF6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F43A2-F21F-8103-387F-07ABF93AC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Describe the colors, x axis... first, describe the general trend</a:t>
            </a:r>
          </a:p>
          <a:p>
            <a:r>
              <a:rPr lang="en-US" dirty="0">
                <a:ea typeface="Calibri"/>
                <a:cs typeface="Calibri"/>
              </a:rPr>
              <a:t>Describe why this is the 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996DA-7064-1569-FE71-19D061075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8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Show the initial results here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289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18525-AA32-7632-C3E2-19C7131A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8DF2B-8F1C-475A-BE7E-2AE55693B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5CEF5-EAC6-9FC6-799B-3E71FE5D1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Show the initial results here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4DF77-706D-C6D7-6FBE-C100F4241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83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0D63-E693-A621-20BE-06E4B8937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A58BE-7E8F-1E92-7816-C28CD566E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66EB4-EEB6-AFA5-8DD5-3FD25D83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Show the initial results here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1A362-9D70-048E-A37B-D860E3F8F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662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The red arrow should be coming from the blockchain toolkit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833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Figure out:</a:t>
            </a:r>
          </a:p>
          <a:p>
            <a:r>
              <a:rPr lang="en-US" dirty="0" err="1">
                <a:ea typeface="Calibri"/>
                <a:cs typeface="Calibri"/>
              </a:rPr>
              <a:t>ANother</a:t>
            </a:r>
            <a:r>
              <a:rPr lang="en-US" dirty="0">
                <a:ea typeface="Calibri"/>
                <a:cs typeface="Calibri"/>
              </a:rPr>
              <a:t> hardware resource bottleneck: Storage bandwidth, network IO, anything we're missing</a:t>
            </a:r>
          </a:p>
          <a:p>
            <a:r>
              <a:rPr lang="en-US" dirty="0">
                <a:ea typeface="Calibri"/>
                <a:cs typeface="Calibri"/>
              </a:rPr>
              <a:t>Possible directions: Testing policy and Infrastructure oriented (Fault tolerance)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First performance paper, consider some possible outcomes, understanding dependency/performance implication</a:t>
            </a:r>
          </a:p>
          <a:p>
            <a:r>
              <a:rPr lang="en-US" dirty="0">
                <a:ea typeface="Calibri"/>
                <a:cs typeface="Calibri"/>
              </a:rPr>
              <a:t>Different availability of resources, how other infra level config may change or even invalidate related works’ results</a:t>
            </a:r>
          </a:p>
          <a:p>
            <a:r>
              <a:rPr lang="en-US" dirty="0">
                <a:hlinkClick r:id="rId3"/>
              </a:rPr>
              <a:t>A Study of Database Performance Sensitivity to Experiment Settings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(</a:t>
            </a:r>
            <a:r>
              <a:rPr lang="en-US" b="1" dirty="0">
                <a:ea typeface="Calibri"/>
                <a:cs typeface="Calibri"/>
              </a:rPr>
              <a:t>Check follow up work</a:t>
            </a:r>
            <a:r>
              <a:rPr lang="en-US" dirty="0">
                <a:ea typeface="Calibri"/>
                <a:cs typeface="Calibri"/>
              </a:rPr>
              <a:t>, compare their figures, discuss this paper in tomorrow’s meeting)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Next based on this, optimization or extend to other blockchains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759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E84F4-8683-49FD-A51C-031FD746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A5550-B5BA-9EA9-9F85-8AA89A250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D8234-BA17-8A7D-ADE0-3F9147CE2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Figure out:</a:t>
            </a:r>
          </a:p>
          <a:p>
            <a:r>
              <a:rPr lang="en-US" dirty="0" err="1">
                <a:ea typeface="Calibri"/>
                <a:cs typeface="Calibri"/>
              </a:rPr>
              <a:t>ANother</a:t>
            </a:r>
            <a:r>
              <a:rPr lang="en-US" dirty="0">
                <a:ea typeface="Calibri"/>
                <a:cs typeface="Calibri"/>
              </a:rPr>
              <a:t> hardware resource bottleneck: Storage bandwidth, network IO, anything we're missing</a:t>
            </a:r>
          </a:p>
          <a:p>
            <a:r>
              <a:rPr lang="en-US" dirty="0">
                <a:ea typeface="Calibri"/>
                <a:cs typeface="Calibri"/>
              </a:rPr>
              <a:t>Possible directions: Testing policy and Infrastructure oriented (Fault tolerance)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First performance paper, consider some possible outcomes, understanding dependency/performance implication</a:t>
            </a:r>
          </a:p>
          <a:p>
            <a:r>
              <a:rPr lang="en-US" dirty="0">
                <a:ea typeface="Calibri"/>
                <a:cs typeface="Calibri"/>
              </a:rPr>
              <a:t>Different availability of resources, how other infra level config may change or even invalidate related works’ results</a:t>
            </a:r>
          </a:p>
          <a:p>
            <a:r>
              <a:rPr lang="en-US" dirty="0">
                <a:hlinkClick r:id="rId3"/>
              </a:rPr>
              <a:t>A Study of Database Performance Sensitivity to Experiment Settings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(</a:t>
            </a:r>
            <a:r>
              <a:rPr lang="en-US" b="1" dirty="0">
                <a:ea typeface="Calibri"/>
                <a:cs typeface="Calibri"/>
              </a:rPr>
              <a:t>Check follow up work</a:t>
            </a:r>
            <a:r>
              <a:rPr lang="en-US" dirty="0">
                <a:ea typeface="Calibri"/>
                <a:cs typeface="Calibri"/>
              </a:rPr>
              <a:t>, compare their figures, discuss this paper in tomorrow’s meeting)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Next based on this, optimization or extend to other blockchains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CB4D6-5A4F-9E3F-DD2A-16975E2DA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038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https://www.ibm.com/think/topics/benefits-of-blockchain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811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https://arxiv.org/pdf/2510.25017</a:t>
            </a:r>
            <a:endParaRPr lang="en-US"/>
          </a:p>
          <a:p>
            <a:r>
              <a:rPr lang="en-US"/>
              <a:t>Why we picked some parameters, instead of picking some random parameters to test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119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88A67-732E-8253-16B6-66D70EF5B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96FE5-C89F-CE9C-3D2F-44841331F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0505A-47D5-E59B-BE65-EEAA9F757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https://www.researchgate.net/profile/Siamak-Solat/publication/349537863_Permissioned_vs_Permissionless_Blockchain_How_and_Why_There_Is_Only_One_Right_Choice/links/64ea6a700453074fbdb663ef/Permissioned-vs-Permissionless-Blockchain-How-and-Why-There-Is-Only-One-Right-Choice.pdf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203C3-3CFC-35FD-2874-3E2DE2FCD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378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Some tools to given different </a:t>
            </a:r>
            <a:r>
              <a:rPr lang="en-US" dirty="0" err="1">
                <a:ea typeface="Calibri"/>
                <a:cs typeface="Calibri"/>
              </a:rPr>
              <a:t>tps</a:t>
            </a:r>
            <a:r>
              <a:rPr lang="en-US" dirty="0">
                <a:ea typeface="Calibri"/>
                <a:cs typeface="Calibri"/>
              </a:rPr>
              <a:t>, automatically choose a proper combination of configuration to achieve appropriate performance</a:t>
            </a:r>
          </a:p>
          <a:p>
            <a:r>
              <a:rPr lang="en-US" dirty="0">
                <a:ea typeface="Calibri"/>
                <a:cs typeface="Calibri"/>
              </a:rPr>
              <a:t>Strategy to navigate all combinations</a:t>
            </a:r>
          </a:p>
          <a:p>
            <a:r>
              <a:rPr lang="en-US" dirty="0">
                <a:ea typeface="Calibri"/>
                <a:cs typeface="Calibri"/>
              </a:rPr>
              <a:t>Some specific examples how to define a policy/scenario</a:t>
            </a:r>
          </a:p>
          <a:p>
            <a:r>
              <a:rPr lang="en-US" dirty="0">
                <a:ea typeface="Calibri"/>
                <a:cs typeface="Calibri"/>
              </a:rPr>
              <a:t>Start some randomly values first, there might be dependencies between them, try based on domain knowledge so far</a:t>
            </a:r>
          </a:p>
          <a:p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/>
              <a:t>Scenarios to emphasize</a:t>
            </a:r>
            <a:endParaRPr lang="en-US" dirty="0"/>
          </a:p>
          <a:p>
            <a:pPr marL="742950" lvl="1" indent="-285750">
              <a:buFont typeface="Courier New,monospace"/>
              <a:buChar char="o"/>
            </a:pPr>
            <a:endParaRPr lang="en-US" dirty="0"/>
          </a:p>
          <a:p>
            <a:pPr marL="742950" lvl="1" indent="-285750">
              <a:buFont typeface="Courier New,monospace"/>
              <a:buChar char="o"/>
            </a:pPr>
            <a:r>
              <a:rPr lang="en-US"/>
              <a:t>Recommendation to optimize for next steps</a:t>
            </a:r>
            <a:endParaRPr lang="en-US" dirty="0"/>
          </a:p>
          <a:p>
            <a:pPr marL="742950" lvl="1" indent="-285750">
              <a:buFont typeface="Courier New,monospace"/>
              <a:buChar char="o"/>
            </a:pPr>
            <a:r>
              <a:rPr lang="en-US"/>
              <a:t>Consider the config policy as the "end product"</a:t>
            </a:r>
            <a:endParaRPr lang="en-US" dirty="0"/>
          </a:p>
          <a:p>
            <a:pPr marL="742950" lvl="1" indent="-285750">
              <a:buFont typeface="Courier New,monospace"/>
              <a:buChar char="o"/>
            </a:pPr>
            <a:r>
              <a:rPr lang="en-US" dirty="0"/>
              <a:t>Testing scenarios, some strategy to pick scenarios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213C-D1F3-422C-9D3E-62DC1374E1AA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27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5216"/>
            <a:ext cx="9144000" cy="238760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 b="1" dirty="0">
                <a:latin typeface="Aptos Display"/>
              </a:rPr>
              <a:t>Understanding Infrastructure Dependency in Blockchain Ecosystem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4891"/>
            <a:ext cx="9144000" cy="16557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PhD Qualification Exam</a:t>
            </a:r>
          </a:p>
          <a:p>
            <a:r>
              <a:rPr lang="en-US" b="1"/>
              <a:t>Wei Xu</a:t>
            </a:r>
          </a:p>
          <a:p>
            <a:r>
              <a:rPr lang="en-US" b="1"/>
              <a:t>Committee: Mai Zheng, Henry J Duwe, </a:t>
            </a:r>
            <a:r>
              <a:rPr lang="en-US" b="1" err="1"/>
              <a:t>Goce</a:t>
            </a:r>
            <a:r>
              <a:rPr lang="en-US" b="1"/>
              <a:t> </a:t>
            </a:r>
            <a:r>
              <a:rPr lang="en-US" b="1" err="1"/>
              <a:t>Trajcevski</a:t>
            </a:r>
          </a:p>
          <a:p>
            <a:r>
              <a:rPr lang="en-US"/>
              <a:t>Department of Electrical Engineering</a:t>
            </a:r>
          </a:p>
        </p:txBody>
      </p:sp>
      <p:pic>
        <p:nvPicPr>
          <p:cNvPr id="4" name="Picture 3" descr="A red and yellow logo&#10;&#10;AI-generated content may be incorrect.">
            <a:extLst>
              <a:ext uri="{FF2B5EF4-FFF2-40B4-BE49-F238E27FC236}">
                <a16:creationId xmlns:a16="http://schemas.microsoft.com/office/drawing/2014/main" id="{E0788DB4-6633-105D-841E-CC258091C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738" y="4691295"/>
            <a:ext cx="26765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4302-84A4-5AAC-E53E-C5224E61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EF650-321D-DDA9-8E65-8F9055410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Motivation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Prototype and preliminary results</a:t>
            </a:r>
          </a:p>
          <a:p>
            <a:r>
              <a:rPr lang="en-US" dirty="0"/>
              <a:t>Discussion &amp;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8B317-677A-22DA-A55A-8AB21936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1445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CDB06-F8C3-BE98-5AB7-47C7D65EC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7D7A0-C51E-C972-3F55-0ACFC960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ACC98F-621B-CAEB-41D6-704A99610BBE}"/>
              </a:ext>
            </a:extLst>
          </p:cNvPr>
          <p:cNvSpPr txBox="1"/>
          <p:nvPr/>
        </p:nvSpPr>
        <p:spPr>
          <a:xfrm>
            <a:off x="833988" y="1466215"/>
            <a:ext cx="110537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Blockchain is promising in many use cases: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04F87-DA05-3A1B-1052-2F6C1A8A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9080" y="179070"/>
            <a:ext cx="2743200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81A7FF-475F-E60F-7937-5C53C5E73566}"/>
              </a:ext>
            </a:extLst>
          </p:cNvPr>
          <p:cNvSpPr txBox="1"/>
          <p:nvPr/>
        </p:nvSpPr>
        <p:spPr>
          <a:xfrm>
            <a:off x="0" y="6505574"/>
            <a:ext cx="71723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</a:rPr>
              <a:t>https://www.educba.com/applications-of-blockchain/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E34A80-827E-3AB0-BE69-1290928CE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905944"/>
            <a:ext cx="8185040" cy="4547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874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4ECB4-9C39-B9D9-0CA0-CB56F8F0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2591" y="6319285"/>
            <a:ext cx="2743200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339CB-682E-6D95-84DB-FB478DAEF6EE}"/>
              </a:ext>
            </a:extLst>
          </p:cNvPr>
          <p:cNvSpPr txBox="1"/>
          <p:nvPr/>
        </p:nvSpPr>
        <p:spPr>
          <a:xfrm>
            <a:off x="0" y="6505574"/>
            <a:ext cx="71723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</a:rPr>
              <a:t>https://changelly.com/blog/companies-that-use-blockchain/</a:t>
            </a:r>
          </a:p>
        </p:txBody>
      </p:sp>
      <p:pic>
        <p:nvPicPr>
          <p:cNvPr id="8" name="Picture 7" descr="A screenshot of a computer company&#10;&#10;AI-generated content may be incorrect.">
            <a:extLst>
              <a:ext uri="{FF2B5EF4-FFF2-40B4-BE49-F238E27FC236}">
                <a16:creationId xmlns:a16="http://schemas.microsoft.com/office/drawing/2014/main" id="{B3D4952F-50EE-4931-9EE0-E9A884B4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48"/>
          <a:stretch>
            <a:fillRect/>
          </a:stretch>
        </p:blipFill>
        <p:spPr>
          <a:xfrm>
            <a:off x="1578480" y="685800"/>
            <a:ext cx="8972901" cy="58160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9A795A-6125-0BB2-A50B-47CEE9296269}"/>
              </a:ext>
            </a:extLst>
          </p:cNvPr>
          <p:cNvSpPr txBox="1"/>
          <p:nvPr/>
        </p:nvSpPr>
        <p:spPr>
          <a:xfrm>
            <a:off x="614362" y="191834"/>
            <a:ext cx="611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Blockchain is popular among enterprises:</a:t>
            </a:r>
          </a:p>
        </p:txBody>
      </p:sp>
    </p:spTree>
    <p:extLst>
      <p:ext uri="{BB962C8B-B14F-4D97-AF65-F5344CB8AC3E}">
        <p14:creationId xmlns:p14="http://schemas.microsoft.com/office/powerpoint/2010/main" val="1980680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6A5C5-F062-2490-D2B0-56F71B13F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88210-6A73-7CC8-19C7-C9AB10F0E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86A8-E500-C5E3-3C6E-9F9418D59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Blockchain is robust thanks to the following features: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Immutable blocks stored in chain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Decentralized data stores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Consensus mechanisms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Transactions protected by cryptography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31BF4-B83E-2221-7167-0AA2ED74A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0500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795C6-91A2-23E5-718D-10FB3A0D1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0415-1409-BA19-6C06-358B3F3D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1D0F5-1544-097D-EBDD-98A700159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Blockchain is robust thanks to the following features: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Immutable blocks stored in chain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Decentralized data stores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Consensus mechanisms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Transactions protected by cryptography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1E6C76-079E-500E-CF90-62C76F501871}"/>
              </a:ext>
            </a:extLst>
          </p:cNvPr>
          <p:cNvSpPr/>
          <p:nvPr/>
        </p:nvSpPr>
        <p:spPr>
          <a:xfrm>
            <a:off x="-1" y="2091069"/>
            <a:ext cx="12191999" cy="2675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/>
              <a:t>But are they really this robust in practice?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D3772-6132-B150-9E89-5F52105F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56481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ED215-8285-78E9-4FA4-CB6579C49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C228-3534-FB4E-0DF0-C4019FE4D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34" y="1540790"/>
            <a:ext cx="6909391" cy="34652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/>
              <a:t>Examples of real-world problems</a:t>
            </a:r>
          </a:p>
          <a:p>
            <a:pPr marL="914400" lvl="1" indent="-457200"/>
            <a:r>
              <a:rPr lang="en-US" dirty="0"/>
              <a:t>Case 1: Crypto exchange Gemini down in November 2022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Caused by AWS EBS outage with one of the primary databases</a:t>
            </a:r>
          </a:p>
        </p:txBody>
      </p:sp>
      <p:pic>
        <p:nvPicPr>
          <p:cNvPr id="4" name="Picture 3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D153F809-9495-55CE-DA6E-A82C291B5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852" y="1392201"/>
            <a:ext cx="3857625" cy="2257425"/>
          </a:xfrm>
          <a:prstGeom prst="rect">
            <a:avLst/>
          </a:prstGeom>
        </p:spPr>
      </p:pic>
      <p:pic>
        <p:nvPicPr>
          <p:cNvPr id="5" name="Picture 4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08CF806E-10AB-CF81-08C1-D59F8986B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959" y="3652727"/>
            <a:ext cx="3857625" cy="2714625"/>
          </a:xfrm>
          <a:prstGeom prst="rect">
            <a:avLst/>
          </a:prstGeom>
        </p:spPr>
      </p:pic>
      <p:pic>
        <p:nvPicPr>
          <p:cNvPr id="6" name="Picture 5" descr="A screenshot of a website&#10;&#10;AI-generated content may be incorrect.">
            <a:extLst>
              <a:ext uri="{FF2B5EF4-FFF2-40B4-BE49-F238E27FC236}">
                <a16:creationId xmlns:a16="http://schemas.microsoft.com/office/drawing/2014/main" id="{C6429BC8-6BE6-7958-7DE6-CEFCA2321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810" y="3648851"/>
            <a:ext cx="6267450" cy="271462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B76E7-51B3-1FE9-F00E-301F8AF96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73094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3AC3-41A4-6594-8525-65CB315EB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E21AF-6D2B-008D-6D6B-C01BA101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4547D-CB52-5076-D91D-D219667BF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014" y="1790183"/>
            <a:ext cx="9372599" cy="40146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Examples of real-world problems</a:t>
            </a:r>
          </a:p>
          <a:p>
            <a:pPr lvl="1"/>
            <a:r>
              <a:rPr lang="en-US" dirty="0"/>
              <a:t>Case 2: AWS meltdown in Oct 2025 took down several major crypto companies/networks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Caused by DNS misconfigurations and DynamoDB failure, then propagated to dependent services</a:t>
            </a:r>
          </a:p>
        </p:txBody>
      </p:sp>
      <p:pic>
        <p:nvPicPr>
          <p:cNvPr id="4" name="Picture 3" descr="A close-up of a white paper&#10;&#10;AI-generated content may be incorrect.">
            <a:extLst>
              <a:ext uri="{FF2B5EF4-FFF2-40B4-BE49-F238E27FC236}">
                <a16:creationId xmlns:a16="http://schemas.microsoft.com/office/drawing/2014/main" id="{41AE5946-EDB6-C5FA-E452-C78C8DF7A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" y="3842710"/>
            <a:ext cx="5778500" cy="2188210"/>
          </a:xfrm>
          <a:prstGeom prst="rect">
            <a:avLst/>
          </a:prstGeom>
        </p:spPr>
      </p:pic>
      <p:pic>
        <p:nvPicPr>
          <p:cNvPr id="6" name="Picture 5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7DE784AD-9645-7139-0648-7BF812C15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964" y="3680764"/>
            <a:ext cx="5935642" cy="240741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DE3A5-F22E-B614-E65B-22591594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31395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ABF3-1A25-DE84-209F-FB1B63BD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71AA-4F73-383F-3A61-6B499652E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154" y="1471206"/>
            <a:ext cx="559804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Examples of real-world problems</a:t>
            </a:r>
          </a:p>
          <a:p>
            <a:pPr lvl="1"/>
            <a:r>
              <a:rPr lang="en-US" dirty="0"/>
              <a:t>Case 3: Solana blockchain went offline in Sept 2021 after a surge of transactions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Caused by validators overloaded by too heavy workload</a:t>
            </a:r>
          </a:p>
          <a:p>
            <a:pPr lvl="1"/>
            <a:endParaRPr lang="en-US" dirty="0"/>
          </a:p>
        </p:txBody>
      </p:sp>
      <p:pic>
        <p:nvPicPr>
          <p:cNvPr id="4" name="Picture 3" descr="A phone and coins on a black surface&#10;&#10;AI-generated content may be incorrect.">
            <a:extLst>
              <a:ext uri="{FF2B5EF4-FFF2-40B4-BE49-F238E27FC236}">
                <a16:creationId xmlns:a16="http://schemas.microsoft.com/office/drawing/2014/main" id="{FF387789-4C00-A7FD-7B44-2C72C204C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651" y="1414856"/>
            <a:ext cx="5751774" cy="5096478"/>
          </a:xfrm>
          <a:prstGeom prst="rect">
            <a:avLst/>
          </a:prstGeom>
        </p:spPr>
      </p:pic>
      <p:pic>
        <p:nvPicPr>
          <p:cNvPr id="5" name="Picture 4" descr="A screenshot of a message&#10;&#10;AI-generated content may be incorrect.">
            <a:extLst>
              <a:ext uri="{FF2B5EF4-FFF2-40B4-BE49-F238E27FC236}">
                <a16:creationId xmlns:a16="http://schemas.microsoft.com/office/drawing/2014/main" id="{F22B3592-519A-ADFB-F085-5640DA221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31" y="3645859"/>
            <a:ext cx="5604688" cy="288009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46121-7B05-EF02-5F82-D7029270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3881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F1E4-570A-F397-E81B-919287BA8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4C483-62D9-9D6A-8E28-B94FB973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CA43F-C70A-A212-1837-FD332247C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154" y="1471206"/>
            <a:ext cx="559804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Examples of real-world problems</a:t>
            </a:r>
          </a:p>
          <a:p>
            <a:pPr lvl="1"/>
            <a:r>
              <a:rPr lang="en-US" dirty="0"/>
              <a:t>Case 3: Solana blockchain went offline in Sept 2021 after a surge of transactions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Caused by validators overloaded by too heavy workload</a:t>
            </a:r>
          </a:p>
          <a:p>
            <a:pPr lvl="1"/>
            <a:endParaRPr lang="en-US" dirty="0"/>
          </a:p>
        </p:txBody>
      </p:sp>
      <p:pic>
        <p:nvPicPr>
          <p:cNvPr id="4" name="Picture 3" descr="A phone and coins on a black surface&#10;&#10;AI-generated content may be incorrect.">
            <a:extLst>
              <a:ext uri="{FF2B5EF4-FFF2-40B4-BE49-F238E27FC236}">
                <a16:creationId xmlns:a16="http://schemas.microsoft.com/office/drawing/2014/main" id="{184937C7-F6E6-F680-EED3-CC8465A57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651" y="1414856"/>
            <a:ext cx="5751774" cy="5096478"/>
          </a:xfrm>
          <a:prstGeom prst="rect">
            <a:avLst/>
          </a:prstGeom>
        </p:spPr>
      </p:pic>
      <p:pic>
        <p:nvPicPr>
          <p:cNvPr id="5" name="Picture 4" descr="A screenshot of a message&#10;&#10;AI-generated content may be incorrect.">
            <a:extLst>
              <a:ext uri="{FF2B5EF4-FFF2-40B4-BE49-F238E27FC236}">
                <a16:creationId xmlns:a16="http://schemas.microsoft.com/office/drawing/2014/main" id="{FD669EB7-DA7E-19A5-5B91-A6C9E8A07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31" y="3645859"/>
            <a:ext cx="5604688" cy="28800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A59A23-C95C-132E-3B2F-2485B6FD58AB}"/>
              </a:ext>
            </a:extLst>
          </p:cNvPr>
          <p:cNvSpPr/>
          <p:nvPr/>
        </p:nvSpPr>
        <p:spPr>
          <a:xfrm>
            <a:off x="-1" y="2091069"/>
            <a:ext cx="12191999" cy="2675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/>
              <a:t>Blockchains are highly dependent on their underlying infrastructures!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</a:p>
          <a:p>
            <a:pPr algn="ctr"/>
            <a:r>
              <a:rPr lang="en-US" sz="2700" b="1" dirty="0">
                <a:solidFill>
                  <a:schemeClr val="bg1"/>
                </a:solidFill>
              </a:rPr>
              <a:t>We need to understand the blockchain dependency to ensure E2E robustness and performance implication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31F29-441A-AF38-0C0C-F44FE8B8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54589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17DD89-2D85-ABDA-D6FD-83089C0BA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106" y="3986909"/>
            <a:ext cx="4727421" cy="189501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BC6B99-7394-AB1A-EBC1-5756DCE1A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the state of the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6F61E-B21E-A423-026C-AB1E18116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784"/>
            <a:ext cx="10924478" cy="237199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/>
              <a:t>Related works:</a:t>
            </a:r>
          </a:p>
          <a:p>
            <a:pPr lvl="1"/>
            <a:r>
              <a:rPr lang="en-US" sz="2000" dirty="0"/>
              <a:t>Proposed the first benchmarking systems for private blockchains (Tien et al.@SIGMOD'17)</a:t>
            </a:r>
          </a:p>
          <a:p>
            <a:pPr lvl="1"/>
            <a:r>
              <a:rPr lang="en-US" sz="2000" dirty="0"/>
              <a:t>Observed some configurable parameters and introduced simple optimizations. (Thakkar et al.@MASCOTS'18)</a:t>
            </a:r>
            <a:endParaRPr lang="en-US"/>
          </a:p>
          <a:p>
            <a:pPr lvl="1"/>
            <a:r>
              <a:rPr lang="en-US" sz="2000" dirty="0"/>
              <a:t>Classified transaction failures, developed a benchmarking system, and observed dependency between block size and failures. (Chacko et al.@SIGMOD'21)</a:t>
            </a:r>
          </a:p>
          <a:p>
            <a:pPr lvl="1"/>
            <a:r>
              <a:rPr lang="en-US" sz="2000" dirty="0"/>
              <a:t>Proposed an auto-tuning system for performance optimization and filtered out some important configuration parameters for auto-tuning efficiency. (Li et al.@VLDB'23)</a:t>
            </a:r>
          </a:p>
          <a:p>
            <a:pPr lvl="1"/>
            <a:endParaRPr lang="en-US" sz="2000"/>
          </a:p>
        </p:txBody>
      </p:sp>
      <p:pic>
        <p:nvPicPr>
          <p:cNvPr id="4" name="Picture 3" descr="A close-up of a document&#10;&#10;AI-generated content may be incorrect.">
            <a:extLst>
              <a:ext uri="{FF2B5EF4-FFF2-40B4-BE49-F238E27FC236}">
                <a16:creationId xmlns:a16="http://schemas.microsoft.com/office/drawing/2014/main" id="{EBBD07F9-E205-A1E6-5505-2734CF090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179" y="4283680"/>
            <a:ext cx="4726224" cy="21107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 descr="A close up of a text&#10;&#10;AI-generated content may be incorrect.">
            <a:extLst>
              <a:ext uri="{FF2B5EF4-FFF2-40B4-BE49-F238E27FC236}">
                <a16:creationId xmlns:a16="http://schemas.microsoft.com/office/drawing/2014/main" id="{58A2CCC9-C957-4F45-46C8-07146D7E6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0407" y="4522941"/>
            <a:ext cx="4729495" cy="19761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 descr="A close-up of a text&#10;&#10;AI-generated content may be incorrect.">
            <a:extLst>
              <a:ext uri="{FF2B5EF4-FFF2-40B4-BE49-F238E27FC236}">
                <a16:creationId xmlns:a16="http://schemas.microsoft.com/office/drawing/2014/main" id="{74363DE6-92E5-19FB-66C6-D8717E316C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039" y="4744225"/>
            <a:ext cx="4733039" cy="203901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3261F3-4C03-F084-0F0A-5648F11F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0939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65BD-45C9-2807-E4AD-313F51E2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the state of the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9A9AB-B8A5-752F-E22A-0842C7CF2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87"/>
            <a:ext cx="11017404" cy="49120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Do not consider cross layer dependencies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</a:rPr>
              <a:t>Only focused on a limited number of configurable options in an application/blockchain layer </a:t>
            </a:r>
            <a:endParaRPr lang="en-US" sz="2200"/>
          </a:p>
          <a:p>
            <a:pPr lvl="1"/>
            <a:r>
              <a:rPr lang="en-US" sz="2200"/>
              <a:t>Did not consider system behavior under abnormal scenarios</a:t>
            </a:r>
            <a:endParaRPr lang="en-US" sz="2200" dirty="0"/>
          </a:p>
          <a:p>
            <a:pPr lvl="1"/>
            <a:endParaRPr lang="en-US" sz="200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D1CC82-8CD1-8830-45F4-B1D09B23C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106" y="3986909"/>
            <a:ext cx="4727421" cy="189501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2" name="Picture 11" descr="A close-up of a document&#10;&#10;AI-generated content may be incorrect.">
            <a:extLst>
              <a:ext uri="{FF2B5EF4-FFF2-40B4-BE49-F238E27FC236}">
                <a16:creationId xmlns:a16="http://schemas.microsoft.com/office/drawing/2014/main" id="{2FBBFB14-2171-5D63-7C93-9C981FAE6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179" y="4283680"/>
            <a:ext cx="4726224" cy="21107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Picture 13" descr="A close up of a text&#10;&#10;AI-generated content may be incorrect.">
            <a:extLst>
              <a:ext uri="{FF2B5EF4-FFF2-40B4-BE49-F238E27FC236}">
                <a16:creationId xmlns:a16="http://schemas.microsoft.com/office/drawing/2014/main" id="{0FF1B615-1197-83B7-5F94-669181321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0407" y="4522941"/>
            <a:ext cx="4729495" cy="19761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6" name="Picture 15" descr="A close-up of a text&#10;&#10;AI-generated content may be incorrect.">
            <a:extLst>
              <a:ext uri="{FF2B5EF4-FFF2-40B4-BE49-F238E27FC236}">
                <a16:creationId xmlns:a16="http://schemas.microsoft.com/office/drawing/2014/main" id="{0D6C0B87-588D-E24D-B392-81AC5A2EFA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039" y="4744225"/>
            <a:ext cx="4733039" cy="203901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D3D78-8B58-DFA0-99F5-FD246739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4183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3E53-3ED4-63CA-8CDB-BCF2302C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4FCDA-409A-225E-4E65-56E9EDBF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the state of the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0369E-BDD1-EC65-C899-F6D8EA99C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87"/>
            <a:ext cx="11017404" cy="49120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Do not consider cross layer dependencies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</a:rPr>
              <a:t>Only focused on a limited number of configurable options in an application/blockchain layer </a:t>
            </a:r>
            <a:endParaRPr lang="en-US" sz="2200"/>
          </a:p>
          <a:p>
            <a:pPr lvl="1"/>
            <a:endParaRPr lang="en-US" sz="200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290FDA-181E-9070-D30C-5FB9ECCA6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106" y="3986909"/>
            <a:ext cx="4727421" cy="189501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2" name="Picture 11" descr="A close-up of a document&#10;&#10;AI-generated content may be incorrect.">
            <a:extLst>
              <a:ext uri="{FF2B5EF4-FFF2-40B4-BE49-F238E27FC236}">
                <a16:creationId xmlns:a16="http://schemas.microsoft.com/office/drawing/2014/main" id="{48C84838-8FDA-7B27-F7A8-F40AD7A8F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179" y="4283680"/>
            <a:ext cx="4726224" cy="21107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Picture 13" descr="A close up of a text&#10;&#10;AI-generated content may be incorrect.">
            <a:extLst>
              <a:ext uri="{FF2B5EF4-FFF2-40B4-BE49-F238E27FC236}">
                <a16:creationId xmlns:a16="http://schemas.microsoft.com/office/drawing/2014/main" id="{C786085A-59DD-243F-9FB3-CB1E8FB61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0407" y="4522941"/>
            <a:ext cx="4729495" cy="19761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6" name="Picture 15" descr="A close-up of a text&#10;&#10;AI-generated content may be incorrect.">
            <a:extLst>
              <a:ext uri="{FF2B5EF4-FFF2-40B4-BE49-F238E27FC236}">
                <a16:creationId xmlns:a16="http://schemas.microsoft.com/office/drawing/2014/main" id="{4121E56B-90DE-F4F9-BDE2-57608E5111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039" y="4744225"/>
            <a:ext cx="4733039" cy="203901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A6122A7-4645-1810-47FC-E10B7F3119F5}"/>
              </a:ext>
            </a:extLst>
          </p:cNvPr>
          <p:cNvSpPr/>
          <p:nvPr/>
        </p:nvSpPr>
        <p:spPr>
          <a:xfrm>
            <a:off x="-1" y="2091069"/>
            <a:ext cx="12191999" cy="2675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/>
              <a:t>We need a framework to study the blockchain dependency on infrastructure conveniently and thoroughly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A85A3-60AC-0D6E-B2A4-73501597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9470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E7D57-4642-18A7-0B23-BECDDBEB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20DE-3556-42C5-D6DC-7AD0B4508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1754C-BF4D-5E09-DBDC-A4EB0806F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trike="sngStrike" dirty="0"/>
              <a:t>Motivation</a:t>
            </a:r>
          </a:p>
          <a:p>
            <a:r>
              <a:rPr lang="en-US" dirty="0">
                <a:solidFill>
                  <a:srgbClr val="FF0000"/>
                </a:solidFill>
              </a:rPr>
              <a:t>Background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Prototype and preliminary results</a:t>
            </a:r>
          </a:p>
          <a:p>
            <a:r>
              <a:rPr lang="en-US" dirty="0"/>
              <a:t>Discussion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97666-08A1-C184-764D-8A43DD4E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0546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A4D8-00A6-6D4D-C55C-963D4A994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What is blockchain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D917E-3ABB-7421-69AE-EC9EC449A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6585"/>
            <a:ext cx="10515600" cy="36706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 immutable transaction ledger, maintained within a distributed network of nodes</a:t>
            </a:r>
          </a:p>
          <a:p>
            <a:r>
              <a:rPr lang="en-US" dirty="0"/>
              <a:t>How does blockchain works?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Nodes validate transactions by a consensus protocol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Transactions grouped into blocks connected as a chain by hash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Each node (peer) maintains a copy of the ledger and the blocks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A6DEA-632F-32D6-B54E-82A491B5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  <p:pic>
        <p:nvPicPr>
          <p:cNvPr id="4098" name="Picture 2" descr="Consensus icon blockchain related Royalty Free Vector Image">
            <a:extLst>
              <a:ext uri="{FF2B5EF4-FFF2-40B4-BE49-F238E27FC236}">
                <a16:creationId xmlns:a16="http://schemas.microsoft.com/office/drawing/2014/main" id="{A4BB6ECB-4346-FED8-EE49-7A2B91C10F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17"/>
          <a:stretch>
            <a:fillRect/>
          </a:stretch>
        </p:blipFill>
        <p:spPr bwMode="auto">
          <a:xfrm>
            <a:off x="1646936" y="4486646"/>
            <a:ext cx="2090748" cy="2074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Digital ledger, blockchain technology, cryptocurrency, transactions ...">
            <a:extLst>
              <a:ext uri="{FF2B5EF4-FFF2-40B4-BE49-F238E27FC236}">
                <a16:creationId xmlns:a16="http://schemas.microsoft.com/office/drawing/2014/main" id="{F555F120-E523-6571-1BD0-45425EBE3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0" y="4486646"/>
            <a:ext cx="2200275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709FC4-F38E-C6B8-1543-F1B8B6B28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564" y="4486646"/>
            <a:ext cx="2200275" cy="219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90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77EA2-D9DA-B8EE-71C5-9B688089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25440" cy="1356043"/>
          </a:xfrm>
        </p:spPr>
        <p:txBody>
          <a:bodyPr/>
          <a:lstStyle/>
          <a:p>
            <a:r>
              <a:rPr lang="en-US" dirty="0"/>
              <a:t>What is Blockchain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F95BA-ECCD-E631-409E-0E8C35393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41088" cy="43779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Blockchain is not a standalone application, relies on a complex infrastructure to run.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e.g., IBM blockchain infrastructure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Lots of config parameters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Configuration decides infrastructure</a:t>
            </a:r>
          </a:p>
          <a:p>
            <a:r>
              <a:rPr lang="en-US" dirty="0"/>
              <a:t>Blockchain system behavior depends on ecosystem configurations</a:t>
            </a:r>
            <a:endParaRPr lang="en-US"/>
          </a:p>
          <a:p>
            <a:endParaRPr lang="en-US"/>
          </a:p>
          <a:p>
            <a:endParaRPr lang="en-US" b="1" dirty="0"/>
          </a:p>
        </p:txBody>
      </p:sp>
      <p:pic>
        <p:nvPicPr>
          <p:cNvPr id="5" name="Picture 4" descr="https://ptgmedia.pearsoncmg.com/images/chap3_9780135581353/elementLinks/03fig04_alt.jpg">
            <a:extLst>
              <a:ext uri="{FF2B5EF4-FFF2-40B4-BE49-F238E27FC236}">
                <a16:creationId xmlns:a16="http://schemas.microsoft.com/office/drawing/2014/main" id="{941F9CE4-B729-E675-6B4E-78AC1FFFA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4" y="1082370"/>
            <a:ext cx="5512389" cy="47005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83BED-494A-DB96-D30E-3EDE5561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FFA1DB-D82D-C72F-45FC-DF0F549BAC52}"/>
              </a:ext>
            </a:extLst>
          </p:cNvPr>
          <p:cNvSpPr txBox="1"/>
          <p:nvPr/>
        </p:nvSpPr>
        <p:spPr>
          <a:xfrm>
            <a:off x="0" y="6505574"/>
            <a:ext cx="71723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https://www.informit.com/articles/article.aspx?p=2955143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9156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DA99-747B-821C-92FD-8B917C97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Hyperledger Fabric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85B40-653A-E91D-E991-714BB69B7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Open-sourced, enterprise-grade distributed permissioned ledger platform</a:t>
            </a:r>
          </a:p>
          <a:p>
            <a:r>
              <a:rPr lang="en-US" dirty="0"/>
              <a:t>Features: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E-O-V architecture that separates execution from consensus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No dependency on concurrencies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Policy-based endorsements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Extensible blockchain for running distributed applications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120D7-35F7-6923-8F9A-536925EC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15</a:t>
            </a:r>
          </a:p>
        </p:txBody>
      </p:sp>
      <p:pic>
        <p:nvPicPr>
          <p:cNvPr id="3074" name="Picture 2" descr="Hyperledger Fabric 2.0 released - Ledger Insights - blockchain for ...">
            <a:extLst>
              <a:ext uri="{FF2B5EF4-FFF2-40B4-BE49-F238E27FC236}">
                <a16:creationId xmlns:a16="http://schemas.microsoft.com/office/drawing/2014/main" id="{281AB824-8A2A-E57D-CE5C-5BE7E987F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1" t="26848" r="7108" b="27465"/>
          <a:stretch>
            <a:fillRect/>
          </a:stretch>
        </p:blipFill>
        <p:spPr bwMode="auto">
          <a:xfrm>
            <a:off x="7789311" y="365125"/>
            <a:ext cx="3697840" cy="117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419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blockchain platform&#10;&#10;AI-generated content may be incorrect.">
            <a:extLst>
              <a:ext uri="{FF2B5EF4-FFF2-40B4-BE49-F238E27FC236}">
                <a16:creationId xmlns:a16="http://schemas.microsoft.com/office/drawing/2014/main" id="{4B077F3F-97D5-0A5D-D1F7-35A3FFBE2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402" y="1590828"/>
            <a:ext cx="8779717" cy="51306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01DCF5-28D7-D9E8-53A9-CD570CAC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Hyperledger Fabric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08C94-92FD-051A-B29B-EFBBD869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51C35-B79F-1CE1-3A0A-C5A781EFEFBE}"/>
              </a:ext>
            </a:extLst>
          </p:cNvPr>
          <p:cNvSpPr txBox="1"/>
          <p:nvPr/>
        </p:nvSpPr>
        <p:spPr>
          <a:xfrm>
            <a:off x="1011115" y="1406769"/>
            <a:ext cx="10287000" cy="7017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400" dirty="0"/>
              <a:t>"Unofficial standard for enterprise blockchain platform" -IBM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28CCD-E430-8737-3C30-7B347DB2AF17}"/>
              </a:ext>
            </a:extLst>
          </p:cNvPr>
          <p:cNvSpPr txBox="1"/>
          <p:nvPr/>
        </p:nvSpPr>
        <p:spPr>
          <a:xfrm>
            <a:off x="-1" y="6505574"/>
            <a:ext cx="96758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https://medium.com/blockdata/forbes-blockchain-50-data-deep-dive-117fc230822f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9459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0585-C6A9-5D7C-919E-0FC686DE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Hyperledger Fabric Transaction workflow</a:t>
            </a:r>
          </a:p>
        </p:txBody>
      </p:sp>
      <p:pic>
        <p:nvPicPr>
          <p:cNvPr id="6" name="Content Placeholder 5" descr="A diagram of a program&#10;&#10;AI-generated content may be incorrect.">
            <a:extLst>
              <a:ext uri="{FF2B5EF4-FFF2-40B4-BE49-F238E27FC236}">
                <a16:creationId xmlns:a16="http://schemas.microsoft.com/office/drawing/2014/main" id="{E437A843-4CB0-FFB1-0B6B-650810E8E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88475" y="1409065"/>
            <a:ext cx="8825210" cy="51336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A99A7C-85CF-B4F0-5A14-6F9F587C49B9}"/>
              </a:ext>
            </a:extLst>
          </p:cNvPr>
          <p:cNvSpPr/>
          <p:nvPr/>
        </p:nvSpPr>
        <p:spPr>
          <a:xfrm>
            <a:off x="1686560" y="2682240"/>
            <a:ext cx="487680" cy="2296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24DE1-BF12-08B7-2D76-A8A656C9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99025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DBC4-3F41-E33C-00C4-7C63E8E70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012D6-5310-6888-D452-B77E5239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DD85A-58E6-2F43-4AD0-0A93D2BD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trike="sngStrike" dirty="0"/>
              <a:t>Motivation</a:t>
            </a:r>
          </a:p>
          <a:p>
            <a:r>
              <a:rPr lang="en-US" strike="sngStrike" dirty="0"/>
              <a:t>Background</a:t>
            </a:r>
          </a:p>
          <a:p>
            <a:r>
              <a:rPr lang="en-US" dirty="0">
                <a:solidFill>
                  <a:srgbClr val="FF0000"/>
                </a:solidFill>
              </a:rPr>
              <a:t>Methodology</a:t>
            </a:r>
          </a:p>
          <a:p>
            <a:r>
              <a:rPr lang="en-US" dirty="0"/>
              <a:t>Prototype and preliminary results</a:t>
            </a:r>
          </a:p>
          <a:p>
            <a:r>
              <a:rPr lang="en-US" dirty="0"/>
              <a:t>Discussion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764FA-F583-B686-74C5-29C069AC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00157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87247-4BAA-A383-0EE0-64DE37C37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F395-A596-B880-45DA-FF782F0F6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4C9A9-38E4-94CD-FD2E-8815C1AC6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5527"/>
            <a:ext cx="10515600" cy="48903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Research Goal: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Close the gap of comprehensive understanding about blockchain dependency on infrastructure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dirty="0"/>
              <a:t>Dependency on infrastructure configuration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dirty="0"/>
              <a:t>Performance metrics under different scenarios</a:t>
            </a:r>
          </a:p>
          <a:p>
            <a:pPr lvl="3"/>
            <a:r>
              <a:rPr lang="en-US" dirty="0"/>
              <a:t>Normal conditions with different configurations</a:t>
            </a:r>
          </a:p>
          <a:p>
            <a:pPr lvl="3"/>
            <a:r>
              <a:rPr lang="en-US" dirty="0"/>
              <a:t>Abnormal conditions with different faults</a:t>
            </a:r>
          </a:p>
          <a:p>
            <a:pPr lvl="2">
              <a:buFont typeface="Wingdings,Sans-Serif" panose="020B0604020202020204" pitchFamily="34" charset="0"/>
              <a:buChar char="§"/>
            </a:pP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A7430-2A64-75D8-98E7-BC600E0A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319605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DE057-B0C4-DC88-B347-BA75DA56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7FB3-01D0-D878-8437-6392A1584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7ACEE-D6BD-B19B-4B85-82E6B3C79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5527"/>
            <a:ext cx="10515600" cy="48903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Research Goal: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Close the gap of comprehensive understanding about blockchain dependency on infrastructure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Dependency on infrastructure configuration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Performance metrics under different scenarios</a:t>
            </a:r>
          </a:p>
          <a:p>
            <a:pPr lvl="3"/>
            <a:r>
              <a:rPr lang="en-US" dirty="0"/>
              <a:t>Normal conditions with different configurations</a:t>
            </a:r>
          </a:p>
          <a:p>
            <a:pPr lvl="3"/>
            <a:r>
              <a:rPr lang="en-US" dirty="0"/>
              <a:t>Abnormal conditions with different faults</a:t>
            </a:r>
          </a:p>
          <a:p>
            <a:r>
              <a:rPr lang="en-US" dirty="0"/>
              <a:t>We propose blockchain controller framework, </a:t>
            </a:r>
            <a:r>
              <a:rPr lang="en-US" b="1" dirty="0" err="1"/>
              <a:t>BlockController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Automatic test network provisioning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Infrastructure configuration and refined benchmarking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Easy resource allocation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5009F-2400-EA3E-85F7-E6241988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9086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01D8-136F-BA91-301D-CD586164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79846-0FE1-A4E0-994D-22BF188C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21</a:t>
            </a:r>
          </a:p>
        </p:txBody>
      </p:sp>
      <p:pic>
        <p:nvPicPr>
          <p:cNvPr id="3" name="Picture 2" descr="A diagram of blockchain ecosystem&#10;&#10;AI-generated content may be incorrect.">
            <a:extLst>
              <a:ext uri="{FF2B5EF4-FFF2-40B4-BE49-F238E27FC236}">
                <a16:creationId xmlns:a16="http://schemas.microsoft.com/office/drawing/2014/main" id="{EDBC49FD-E9C0-1B59-19EA-101593344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34" y="1254512"/>
            <a:ext cx="9174353" cy="560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08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3E96-C4CE-B2CD-3FA7-B7DA84C5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33605B-07A2-6011-4AA3-0ED1EFB3E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0" y="1683385"/>
            <a:ext cx="3146121" cy="32438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13881A-8CB7-94B4-F042-440E7B64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Plans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06C97-ABD5-B412-BBD3-65835DBADB3A}"/>
              </a:ext>
            </a:extLst>
          </p:cNvPr>
          <p:cNvSpPr txBox="1"/>
          <p:nvPr/>
        </p:nvSpPr>
        <p:spPr>
          <a:xfrm>
            <a:off x="3344333" y="1691010"/>
            <a:ext cx="8853603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Decide the direction of configurations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Provide testing scenarios to simulate possible use cases: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/>
              <a:t>Supply chain, healthcare, banking…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Provide high level information like: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/>
              <a:t>How many organizations/peers/endorsers… in the blockchain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/>
              <a:t>What endorsement policy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/>
              <a:t>Hardware resource assignment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/>
              <a:t>What fault to inject </a:t>
            </a:r>
            <a:r>
              <a:rPr lang="en-US" sz="2000" dirty="0">
                <a:solidFill>
                  <a:srgbClr val="FF0000"/>
                </a:solidFill>
              </a:rPr>
              <a:t>(Extension of the current fault injection framework)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000" dirty="0">
                <a:solidFill>
                  <a:srgbClr val="FF0000"/>
                </a:solidFill>
              </a:rPr>
              <a:t>Not only </a:t>
            </a:r>
            <a:r>
              <a:rPr lang="en-US" sz="2000" dirty="0" err="1">
                <a:solidFill>
                  <a:srgbClr val="FF0000"/>
                </a:solidFill>
              </a:rPr>
              <a:t>statedb</a:t>
            </a:r>
            <a:r>
              <a:rPr lang="en-US" sz="2000" dirty="0">
                <a:solidFill>
                  <a:srgbClr val="FF0000"/>
                </a:solidFill>
              </a:rPr>
              <a:t> faults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000" dirty="0">
                <a:solidFill>
                  <a:srgbClr val="FF0000"/>
                </a:solidFill>
              </a:rPr>
              <a:t>Which layer has fault?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000" dirty="0">
                <a:solidFill>
                  <a:srgbClr val="FF0000"/>
                </a:solidFill>
              </a:rPr>
              <a:t>What component has fault?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000" dirty="0">
                <a:solidFill>
                  <a:srgbClr val="FF0000"/>
                </a:solidFill>
              </a:rPr>
              <a:t>Cross layer faults?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The “Decision maker” of the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B78DE-32EC-2935-DC7F-31046A0A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24713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3C43B-E842-DF9B-527B-6E982756B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Workload generator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7B68CC-8D36-8ACA-E1C6-ACFC4FA178A1}"/>
              </a:ext>
            </a:extLst>
          </p:cNvPr>
          <p:cNvSpPr txBox="1"/>
          <p:nvPr/>
        </p:nvSpPr>
        <p:spPr>
          <a:xfrm>
            <a:off x="3230880" y="1717040"/>
            <a:ext cx="812800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Execute workload configurations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Configurable parameters: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000" dirty="0"/>
              <a:t>Number of workers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000" dirty="0"/>
              <a:t>Number of assets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000" dirty="0"/>
              <a:t>Transaction arrival rate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000" dirty="0"/>
              <a:t>Read or Write operations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Automatic log recording and better statistics</a:t>
            </a:r>
          </a:p>
          <a:p>
            <a:pPr marL="742950" lvl="1" indent="-285750">
              <a:buFont typeface="Courier New"/>
              <a:buChar char="o"/>
            </a:pPr>
            <a:endParaRPr lang="en-US" sz="2400" dirty="0"/>
          </a:p>
        </p:txBody>
      </p:sp>
      <p:pic>
        <p:nvPicPr>
          <p:cNvPr id="7" name="Content Placeholder 6" descr="A diagram of a blockchain software&#10;&#10;AI-generated content may be incorrect.">
            <a:extLst>
              <a:ext uri="{FF2B5EF4-FFF2-40B4-BE49-F238E27FC236}">
                <a16:creationId xmlns:a16="http://schemas.microsoft.com/office/drawing/2014/main" id="{61F13499-8D89-29AE-12F0-932E2A702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" y="1683385"/>
            <a:ext cx="3139337" cy="32642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57912-1B70-6D05-B03A-36881E27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A23756-CF32-3D48-F0F2-87FAA0D73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3386"/>
            <a:ext cx="3182758" cy="326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01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53F74DC-1887-56EA-AADF-D765EDE3B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731328"/>
            <a:ext cx="3152108" cy="32211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1D0C32-6B4C-0098-E2CF-FFB88EC9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Blockchain Toolkit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A980F-0C16-7706-AEFB-22D7FEBBF447}"/>
              </a:ext>
            </a:extLst>
          </p:cNvPr>
          <p:cNvSpPr txBox="1"/>
          <p:nvPr/>
        </p:nvSpPr>
        <p:spPr>
          <a:xfrm>
            <a:off x="3143250" y="1682749"/>
            <a:ext cx="8593666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/>
              <a:t>Easy blockchain network provisioning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Automatic configuration (Decision made in Testing Plans) including the following:</a:t>
            </a:r>
            <a:endParaRPr lang="en-US" dirty="0"/>
          </a:p>
          <a:p>
            <a:pPr marL="800100" lvl="1" indent="-342900">
              <a:buFont typeface="Courier New"/>
              <a:buChar char="o"/>
            </a:pPr>
            <a:r>
              <a:rPr lang="en-US" sz="2000" dirty="0"/>
              <a:t>Number of peers and their roles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 dirty="0"/>
              <a:t>Number of organizations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 dirty="0"/>
              <a:t>Endorsement policy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 dirty="0"/>
              <a:t>Block size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 dirty="0"/>
              <a:t>Consensus algorithm (RAFT, BFT)</a:t>
            </a:r>
          </a:p>
          <a:p>
            <a:pPr marL="800100" lvl="1" indent="-342900">
              <a:buFont typeface="Courier New"/>
              <a:buChar char="o"/>
            </a:pPr>
            <a:endParaRPr lang="en-US" sz="2400" dirty="0"/>
          </a:p>
          <a:p>
            <a:pPr marL="800100" lvl="1" indent="-342900">
              <a:buFont typeface="Courier New"/>
              <a:buChar char="o"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982148-20A3-92AE-BF13-7957B92DE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107725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59EC-EBED-D482-A86A-202C76D2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Manager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2508EB-15F0-92F8-57A6-50CB547A25E2}"/>
              </a:ext>
            </a:extLst>
          </p:cNvPr>
          <p:cNvSpPr txBox="1"/>
          <p:nvPr/>
        </p:nvSpPr>
        <p:spPr>
          <a:xfrm>
            <a:off x="3220975" y="1690688"/>
            <a:ext cx="8246739" cy="2739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/>
              <a:t>Ensure resource availability to both container layer and hardware layer</a:t>
            </a:r>
            <a:endParaRPr lang="en-US" dirty="0"/>
          </a:p>
          <a:p>
            <a:pPr marL="800100" lvl="1" indent="-342900">
              <a:buFont typeface="Courier New"/>
              <a:buChar char="o"/>
            </a:pPr>
            <a:r>
              <a:rPr lang="en-US" sz="2000" dirty="0"/>
              <a:t>Automated resource allocation to each individual container and Kubernetes pod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 dirty="0"/>
              <a:t>Automatically assigning distinct roles to specific node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 dirty="0"/>
              <a:t>Straightforward application of container changes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 dirty="0"/>
              <a:t>Inject faults to different components</a:t>
            </a:r>
            <a:endParaRPr lang="en-US" sz="1600" dirty="0"/>
          </a:p>
          <a:p>
            <a:pPr marL="800100" lvl="1" indent="-342900">
              <a:buFont typeface="Arial"/>
              <a:buChar char="•"/>
            </a:pPr>
            <a:endParaRPr lang="en-US" sz="2400" dirty="0"/>
          </a:p>
        </p:txBody>
      </p:sp>
      <p:pic>
        <p:nvPicPr>
          <p:cNvPr id="7" name="Content Placeholder 6" descr="A diagram of a blockchain software&#10;&#10;AI-generated content may be incorrect.">
            <a:extLst>
              <a:ext uri="{FF2B5EF4-FFF2-40B4-BE49-F238E27FC236}">
                <a16:creationId xmlns:a16="http://schemas.microsoft.com/office/drawing/2014/main" id="{83F7F10D-D80D-73D9-448A-46BBD2B95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01" y="1683385"/>
            <a:ext cx="3156557" cy="33150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54856-AC41-B09D-D4C1-29CEB6809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9E02B3-4745-F18D-DDE9-C2DFAA4C4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83385"/>
            <a:ext cx="3220975" cy="331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961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E75FB-8B4F-3D2F-A3D7-0336C251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0EBC0-935A-01D0-FD84-46980E2EC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0AD68-D1E0-5D58-C96B-E80B78774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trike="sngStrike" dirty="0"/>
              <a:t>Motivation</a:t>
            </a:r>
          </a:p>
          <a:p>
            <a:r>
              <a:rPr lang="en-US" strike="sngStrike" dirty="0"/>
              <a:t>Background</a:t>
            </a:r>
          </a:p>
          <a:p>
            <a:r>
              <a:rPr lang="en-US" strike="sngStrike" dirty="0"/>
              <a:t>Methodology</a:t>
            </a:r>
          </a:p>
          <a:p>
            <a:r>
              <a:rPr lang="en-US" dirty="0">
                <a:solidFill>
                  <a:srgbClr val="FF0000"/>
                </a:solidFill>
              </a:rPr>
              <a:t>Prototype and preliminary results</a:t>
            </a:r>
          </a:p>
          <a:p>
            <a:r>
              <a:rPr lang="en-US" dirty="0"/>
              <a:t>Discussion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2245A-5F7D-7169-B1F1-205C1DD7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067303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2F374-1575-0B89-473E-03164E42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808B-5D85-E2F0-75D1-3F0446BA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prototype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662A-FDFF-63DE-EF93-A88081CC3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38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4 inter-connected Dell </a:t>
            </a:r>
            <a:r>
              <a:rPr lang="en-US" err="1"/>
              <a:t>Poweredge</a:t>
            </a:r>
            <a:r>
              <a:rPr lang="en-US"/>
              <a:t> d430 nodes on </a:t>
            </a:r>
            <a:r>
              <a:rPr lang="en-US" err="1"/>
              <a:t>Cloudlab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Two 2.4 GHz 64-bit 8-core Xeon E5-2630v3 processors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64 GB DDR4 RAM (8 x 8 GB modules)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200 GB 6Gbps SATA SSD, 2 x 1 TB 7200 RPM 6 Gbps SATA disks</a:t>
            </a:r>
          </a:p>
          <a:p>
            <a:r>
              <a:rPr lang="en-US"/>
              <a:t>Node list:</a:t>
            </a:r>
          </a:p>
          <a:p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4FDA5B-1D16-9203-F6B4-1DDCB6366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310985"/>
              </p:ext>
            </p:extLst>
          </p:nvPr>
        </p:nvGraphicFramePr>
        <p:xfrm>
          <a:off x="1696720" y="4044696"/>
          <a:ext cx="81686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607587876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977204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Node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node0.d430.isu-cloud.emulab.net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 plane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8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node1.d430.isu-cloud.emulab.net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Org1 pods (Endorser, Non-endorser)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80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node2.d430.isu-cloud.emulab.net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Org2 pods (Endorser, Non-endorser)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839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node3.d430.isu-cloud.emulab.net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Org0 pods (</a:t>
                      </a:r>
                      <a:r>
                        <a:rPr lang="en-US" err="1"/>
                        <a:t>Orderer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4040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5B1C7-65EF-8FF8-0674-05318802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0035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A108-3A2D-8065-C62E-B2BD49E1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prototype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8451E-FA72-B64D-38C3-C72F8A65C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Implemented some functionalities in Blockchain Toolkit and Infrastructure Manager, including: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Automatic network provisioning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Endorser peer enrollment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Easy hardware resource allocation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Fault injection in container level</a:t>
            </a:r>
          </a:p>
          <a:p>
            <a:r>
              <a:rPr lang="en-US" dirty="0"/>
              <a:t>Results: Performance under different scenarios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CC290-12BB-35F6-EF90-E33382BAB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54610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B15CA-4463-04AA-8EE9-402E88C5C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E522F-1AE4-043E-3139-700BE628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sz="3700"/>
              <a:t>Preliminary experiments:</a:t>
            </a:r>
            <a:br>
              <a:rPr lang="en-US" sz="3700"/>
            </a:br>
            <a:r>
              <a:rPr lang="en-US" sz="3700"/>
              <a:t>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7DFCC-1C6E-9599-2118-EE8CBDFC9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848" y="369729"/>
            <a:ext cx="5436396" cy="2120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Different configurations may lead to greatly changed performance</a:t>
            </a:r>
          </a:p>
          <a:p>
            <a:pPr lvl="1"/>
            <a:r>
              <a:rPr lang="en-US" sz="2000" dirty="0"/>
              <a:t>When changing the TPS, the throughput can increase by 37.76%</a:t>
            </a:r>
          </a:p>
          <a:p>
            <a:pPr lvl="1"/>
            <a:r>
              <a:rPr lang="en-US" sz="2000" dirty="0"/>
              <a:t>The performance change is not linear</a:t>
            </a:r>
          </a:p>
          <a:p>
            <a:pPr lvl="2"/>
            <a:r>
              <a:rPr lang="en-US" sz="1600" dirty="0"/>
              <a:t>Throughput decrease by 18.46%</a:t>
            </a:r>
          </a:p>
          <a:p>
            <a:endParaRPr lang="en-US" sz="2000" dirty="0"/>
          </a:p>
        </p:txBody>
      </p:sp>
      <p:pic>
        <p:nvPicPr>
          <p:cNvPr id="2050" name="Picture 2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FC25CAAD-393E-00AF-E8B8-6C3423E50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36401" y="2479945"/>
            <a:ext cx="5617843" cy="408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59116186-7486-7179-E9CA-CA1FB9B66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56" y="2489776"/>
            <a:ext cx="5656719" cy="40869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B59EF-44E6-C101-3681-6FF5742B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66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88EF-31C7-9A5E-1827-E6A9FEE2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</a:t>
            </a:r>
            <a:br>
              <a:rPr lang="en-US" dirty="0"/>
            </a:br>
            <a:r>
              <a:rPr lang="en-US" dirty="0"/>
              <a:t>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F9E7-65D4-E215-7A04-6F6618B24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128" y="161789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Different impacts when different amount of resource assigned to endorsers and non-endorsers</a:t>
            </a:r>
          </a:p>
        </p:txBody>
      </p:sp>
      <p:pic>
        <p:nvPicPr>
          <p:cNvPr id="4" name="Picture 3" descr="A graph of a number of cpus&#10;&#10;AI-generated content may be incorrect.">
            <a:extLst>
              <a:ext uri="{FF2B5EF4-FFF2-40B4-BE49-F238E27FC236}">
                <a16:creationId xmlns:a16="http://schemas.microsoft.com/office/drawing/2014/main" id="{5E308B9D-E101-5C8B-72D6-27C270897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67" y="2365770"/>
            <a:ext cx="5803048" cy="4356409"/>
          </a:xfrm>
          <a:prstGeom prst="rect">
            <a:avLst/>
          </a:prstGeom>
        </p:spPr>
      </p:pic>
      <p:pic>
        <p:nvPicPr>
          <p:cNvPr id="5" name="Picture 4" descr="A graph of a number of cpus&#10;&#10;AI-generated content may be incorrect.">
            <a:extLst>
              <a:ext uri="{FF2B5EF4-FFF2-40B4-BE49-F238E27FC236}">
                <a16:creationId xmlns:a16="http://schemas.microsoft.com/office/drawing/2014/main" id="{C4A700E6-079D-627C-9FAB-15E12F01E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456" y="2365770"/>
            <a:ext cx="6039546" cy="43657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D92CF-DAB8-145A-1C3A-28EFAE701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179070"/>
            <a:ext cx="2743200" cy="365125"/>
          </a:xfrm>
        </p:spPr>
        <p:txBody>
          <a:bodyPr/>
          <a:lstStyle/>
          <a:p>
            <a:r>
              <a:rPr lang="en-US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564191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A6032-7422-8070-A912-9D4B946A5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34EEF-C99E-F5FD-F3F0-3E3DEB0F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</a:t>
            </a:r>
            <a:br>
              <a:rPr lang="en-US" dirty="0"/>
            </a:br>
            <a:r>
              <a:rPr lang="en-US" dirty="0"/>
              <a:t>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78AEC-40C3-C680-24F4-DDD78BDB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128" y="161789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Different impacts when different amount of resource assigned to endorsers and non-endorsers</a:t>
            </a:r>
          </a:p>
        </p:txBody>
      </p:sp>
      <p:pic>
        <p:nvPicPr>
          <p:cNvPr id="4" name="Picture 3" descr="A graph of a number of cpus&#10;&#10;AI-generated content may be incorrect.">
            <a:extLst>
              <a:ext uri="{FF2B5EF4-FFF2-40B4-BE49-F238E27FC236}">
                <a16:creationId xmlns:a16="http://schemas.microsoft.com/office/drawing/2014/main" id="{CB651CE9-922B-DC62-B133-8A0563FA9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67" y="2365770"/>
            <a:ext cx="5803048" cy="4356409"/>
          </a:xfrm>
          <a:prstGeom prst="rect">
            <a:avLst/>
          </a:prstGeom>
        </p:spPr>
      </p:pic>
      <p:pic>
        <p:nvPicPr>
          <p:cNvPr id="5" name="Picture 4" descr="A graph of a number of cpus&#10;&#10;AI-generated content may be incorrect.">
            <a:extLst>
              <a:ext uri="{FF2B5EF4-FFF2-40B4-BE49-F238E27FC236}">
                <a16:creationId xmlns:a16="http://schemas.microsoft.com/office/drawing/2014/main" id="{ACF5A2A2-09D1-F4D1-5CE2-0A8340272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456" y="2365770"/>
            <a:ext cx="6039546" cy="43657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E4920-0138-0DF3-1724-CCC47F51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179070"/>
            <a:ext cx="2743200" cy="365125"/>
          </a:xfrm>
        </p:spPr>
        <p:txBody>
          <a:bodyPr/>
          <a:lstStyle/>
          <a:p>
            <a:r>
              <a:rPr lang="en-US" dirty="0"/>
              <a:t>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752E82-1FA8-C7F3-073C-C4C2607372D8}"/>
              </a:ext>
            </a:extLst>
          </p:cNvPr>
          <p:cNvSpPr/>
          <p:nvPr/>
        </p:nvSpPr>
        <p:spPr>
          <a:xfrm>
            <a:off x="-1" y="2091069"/>
            <a:ext cx="12191999" cy="2675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/>
              <a:t>Observation: Fabric transaction performance is very sensitive to endorser peers' computing power!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68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F350-B2DA-A2BC-354C-20AFDCB6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</a:t>
            </a:r>
            <a:br>
              <a:rPr lang="en-US" dirty="0"/>
            </a:br>
            <a:r>
              <a:rPr lang="en-US" dirty="0"/>
              <a:t>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ED313-D48A-A650-FEB7-3ECBE7437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Keep overall CPU cores the same, distribute them unequally to endorsers and non-endorsers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6244A5-CB4B-1D70-0DEE-656CE45CA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974963"/>
              </p:ext>
            </p:extLst>
          </p:nvPr>
        </p:nvGraphicFramePr>
        <p:xfrm>
          <a:off x="-1" y="3856463"/>
          <a:ext cx="5311573" cy="2031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733">
                  <a:extLst>
                    <a:ext uri="{9D8B030D-6E8A-4147-A177-3AD203B41FA5}">
                      <a16:colId xmlns:a16="http://schemas.microsoft.com/office/drawing/2014/main" val="1380901736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3835786411"/>
                    </a:ext>
                  </a:extLst>
                </a:gridCol>
              </a:tblGrid>
              <a:tr h="425701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</a:rPr>
                        <a:t>Peer container baseline configurations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4021"/>
                  </a:ext>
                </a:extLst>
              </a:tr>
              <a:tr h="383966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CPU cores (non-endorsing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5666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CPU cores (endorsing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375513"/>
                  </a:ext>
                </a:extLst>
              </a:tr>
              <a:tr h="409008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RAM (non-endorsing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8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37169"/>
                  </a:ext>
                </a:extLst>
              </a:tr>
              <a:tr h="375619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RAM (endorsing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8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4992"/>
                  </a:ext>
                </a:extLst>
              </a:tr>
            </a:tbl>
          </a:graphicData>
        </a:graphic>
      </p:graphicFrame>
      <p:pic>
        <p:nvPicPr>
          <p:cNvPr id="7" name="Picture 6" descr="A graph of blue bars&#10;&#10;AI-generated content may be incorrect.">
            <a:extLst>
              <a:ext uri="{FF2B5EF4-FFF2-40B4-BE49-F238E27FC236}">
                <a16:creationId xmlns:a16="http://schemas.microsoft.com/office/drawing/2014/main" id="{91B9EA69-0D85-E807-E420-CFEAF90CD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369" y="2663283"/>
            <a:ext cx="5438775" cy="4114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164A498-7D7E-8652-CFAA-43D3EC7F6B70}"/>
              </a:ext>
            </a:extLst>
          </p:cNvPr>
          <p:cNvSpPr/>
          <p:nvPr/>
        </p:nvSpPr>
        <p:spPr>
          <a:xfrm>
            <a:off x="11066966" y="2792538"/>
            <a:ext cx="609600" cy="34654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6D7AC8-F331-9235-77F7-4D6D02AC26ED}"/>
              </a:ext>
            </a:extLst>
          </p:cNvPr>
          <p:cNvSpPr/>
          <p:nvPr/>
        </p:nvSpPr>
        <p:spPr>
          <a:xfrm>
            <a:off x="11203490" y="6296991"/>
            <a:ext cx="333374" cy="226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534E5D-5FEF-A260-35AD-761DFEEE8DA5}"/>
              </a:ext>
            </a:extLst>
          </p:cNvPr>
          <p:cNvSpPr/>
          <p:nvPr/>
        </p:nvSpPr>
        <p:spPr>
          <a:xfrm>
            <a:off x="9152673" y="2838449"/>
            <a:ext cx="609600" cy="3419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574C4C-9016-185F-2A6A-4E86C68162D6}"/>
              </a:ext>
            </a:extLst>
          </p:cNvPr>
          <p:cNvSpPr/>
          <p:nvPr/>
        </p:nvSpPr>
        <p:spPr>
          <a:xfrm>
            <a:off x="9289197" y="6296416"/>
            <a:ext cx="333374" cy="226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A8857-785D-01C5-0DC5-86E5FBCE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5720" y="179070"/>
            <a:ext cx="2743200" cy="365125"/>
          </a:xfrm>
        </p:spPr>
        <p:txBody>
          <a:bodyPr/>
          <a:lstStyle/>
          <a:p>
            <a:r>
              <a:rPr lang="en-US" dirty="0"/>
              <a:t>32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7B83E64-1433-84FB-C691-EA81C446740F}"/>
              </a:ext>
            </a:extLst>
          </p:cNvPr>
          <p:cNvSpPr/>
          <p:nvPr/>
        </p:nvSpPr>
        <p:spPr>
          <a:xfrm>
            <a:off x="5506720" y="4531360"/>
            <a:ext cx="995680" cy="355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30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B4FC-A872-A41E-1979-D2CB276C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3A53-C3FE-42AC-1DBD-C807697BE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</a:t>
            </a:r>
            <a:br>
              <a:rPr lang="en-US" dirty="0"/>
            </a:br>
            <a:r>
              <a:rPr lang="en-US" dirty="0"/>
              <a:t>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EB562-996B-80CD-9F89-03FA06CBE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Assign 2 more cores to endorser, lead to 8.56% more goodput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261BA6-13FF-0C6F-23D6-584334456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346740"/>
              </p:ext>
            </p:extLst>
          </p:nvPr>
        </p:nvGraphicFramePr>
        <p:xfrm>
          <a:off x="-1" y="3856463"/>
          <a:ext cx="5311573" cy="2031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733">
                  <a:extLst>
                    <a:ext uri="{9D8B030D-6E8A-4147-A177-3AD203B41FA5}">
                      <a16:colId xmlns:a16="http://schemas.microsoft.com/office/drawing/2014/main" val="1380901736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3835786411"/>
                    </a:ext>
                  </a:extLst>
                </a:gridCol>
              </a:tblGrid>
              <a:tr h="425701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Peer container baseline configurations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4021"/>
                  </a:ext>
                </a:extLst>
              </a:tr>
              <a:tr h="383966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CPU cores (non-endorsing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5666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CPU cores (endorsing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375513"/>
                  </a:ext>
                </a:extLst>
              </a:tr>
              <a:tr h="409008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RAM (non-endorsing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8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37169"/>
                  </a:ext>
                </a:extLst>
              </a:tr>
              <a:tr h="375619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RAM (endorsing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8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4992"/>
                  </a:ext>
                </a:extLst>
              </a:tr>
            </a:tbl>
          </a:graphicData>
        </a:graphic>
      </p:graphicFrame>
      <p:pic>
        <p:nvPicPr>
          <p:cNvPr id="6" name="Picture 5" descr="A graph of blue bars&#10;&#10;AI-generated content may be incorrect.">
            <a:extLst>
              <a:ext uri="{FF2B5EF4-FFF2-40B4-BE49-F238E27FC236}">
                <a16:creationId xmlns:a16="http://schemas.microsoft.com/office/drawing/2014/main" id="{FA8B5369-7269-C142-E560-51CAC33F5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369" y="2663283"/>
            <a:ext cx="5438775" cy="4114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D543CE5-71AD-6081-4339-D6B0374E4BF1}"/>
              </a:ext>
            </a:extLst>
          </p:cNvPr>
          <p:cNvSpPr/>
          <p:nvPr/>
        </p:nvSpPr>
        <p:spPr>
          <a:xfrm>
            <a:off x="11066966" y="2794844"/>
            <a:ext cx="609600" cy="34631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742735-424E-9BE0-1065-A6806084CBFC}"/>
              </a:ext>
            </a:extLst>
          </p:cNvPr>
          <p:cNvSpPr/>
          <p:nvPr/>
        </p:nvSpPr>
        <p:spPr>
          <a:xfrm>
            <a:off x="11203490" y="6293702"/>
            <a:ext cx="333374" cy="226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9B3DE-378B-47DA-3F4D-C118057C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5720" y="179070"/>
            <a:ext cx="2743200" cy="365125"/>
          </a:xfrm>
        </p:spPr>
        <p:txBody>
          <a:bodyPr/>
          <a:lstStyle/>
          <a:p>
            <a:r>
              <a:rPr lang="en-US" dirty="0"/>
              <a:t>33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1D107F9-438C-D0B9-689A-0C2D9A2F780E}"/>
              </a:ext>
            </a:extLst>
          </p:cNvPr>
          <p:cNvSpPr/>
          <p:nvPr/>
        </p:nvSpPr>
        <p:spPr>
          <a:xfrm>
            <a:off x="5506720" y="4531360"/>
            <a:ext cx="995680" cy="355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970B96-6330-9403-9720-0B1DA7B91CB0}"/>
              </a:ext>
            </a:extLst>
          </p:cNvPr>
          <p:cNvCxnSpPr/>
          <p:nvPr/>
        </p:nvCxnSpPr>
        <p:spPr>
          <a:xfrm>
            <a:off x="7203229" y="3265714"/>
            <a:ext cx="277119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1D1CD9A-E621-E294-98D8-4C6FA3A00FD6}"/>
              </a:ext>
            </a:extLst>
          </p:cNvPr>
          <p:cNvSpPr txBox="1"/>
          <p:nvPr/>
        </p:nvSpPr>
        <p:spPr>
          <a:xfrm>
            <a:off x="8380549" y="2905713"/>
            <a:ext cx="111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8.56%</a:t>
            </a:r>
          </a:p>
        </p:txBody>
      </p:sp>
    </p:spTree>
    <p:extLst>
      <p:ext uri="{BB962C8B-B14F-4D97-AF65-F5344CB8AC3E}">
        <p14:creationId xmlns:p14="http://schemas.microsoft.com/office/powerpoint/2010/main" val="11132724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792D7-82E5-EB2F-A0B4-BFCDBAD5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22F5-D34A-5BB4-B647-9F2FDBD8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</a:t>
            </a:r>
            <a:br>
              <a:rPr lang="en-US" dirty="0"/>
            </a:br>
            <a:r>
              <a:rPr lang="en-US" dirty="0"/>
              <a:t>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DF638-7F8C-3AAC-3E30-9402455C4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Assigning more cores to the endorser peer, the goodput almost reached the target TPS=150, with 11.63% more goodput</a:t>
            </a:r>
          </a:p>
          <a:p>
            <a:pPr lvl="1">
              <a:buFont typeface="Courier New,monospace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4F78E5-4D62-8F40-5909-8E830296C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67517"/>
              </p:ext>
            </p:extLst>
          </p:nvPr>
        </p:nvGraphicFramePr>
        <p:xfrm>
          <a:off x="-1" y="3856463"/>
          <a:ext cx="5311573" cy="2031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733">
                  <a:extLst>
                    <a:ext uri="{9D8B030D-6E8A-4147-A177-3AD203B41FA5}">
                      <a16:colId xmlns:a16="http://schemas.microsoft.com/office/drawing/2014/main" val="1380901736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3835786411"/>
                    </a:ext>
                  </a:extLst>
                </a:gridCol>
              </a:tblGrid>
              <a:tr h="425701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Peer container baseline configurations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4021"/>
                  </a:ext>
                </a:extLst>
              </a:tr>
              <a:tr h="383966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CPU cores (non-endorsing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5666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CPU cores (endorsing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375513"/>
                  </a:ext>
                </a:extLst>
              </a:tr>
              <a:tr h="409008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RAM (non-endorsing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8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37169"/>
                  </a:ext>
                </a:extLst>
              </a:tr>
              <a:tr h="375619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RAM (endorsing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8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4992"/>
                  </a:ext>
                </a:extLst>
              </a:tr>
            </a:tbl>
          </a:graphicData>
        </a:graphic>
      </p:graphicFrame>
      <p:pic>
        <p:nvPicPr>
          <p:cNvPr id="6" name="Picture 5" descr="A graph of blue bars&#10;&#10;AI-generated content may be incorrect.">
            <a:extLst>
              <a:ext uri="{FF2B5EF4-FFF2-40B4-BE49-F238E27FC236}">
                <a16:creationId xmlns:a16="http://schemas.microsoft.com/office/drawing/2014/main" id="{C3DAD7B6-1A11-74EF-E01C-6DD0E306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369" y="2663283"/>
            <a:ext cx="5438775" cy="41148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20756-F95F-4657-B923-F7C692BDC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3320" y="179070"/>
            <a:ext cx="2743200" cy="365125"/>
          </a:xfrm>
        </p:spPr>
        <p:txBody>
          <a:bodyPr/>
          <a:lstStyle/>
          <a:p>
            <a:r>
              <a:rPr lang="en-US" dirty="0"/>
              <a:t>34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DCE868C-21E1-8325-60B4-30193672DE73}"/>
              </a:ext>
            </a:extLst>
          </p:cNvPr>
          <p:cNvSpPr/>
          <p:nvPr/>
        </p:nvSpPr>
        <p:spPr>
          <a:xfrm>
            <a:off x="5506720" y="4531360"/>
            <a:ext cx="995680" cy="355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F209E7-B343-B455-3FF7-0E0BFE06BBB5}"/>
              </a:ext>
            </a:extLst>
          </p:cNvPr>
          <p:cNvCxnSpPr>
            <a:cxnSpLocks/>
          </p:cNvCxnSpPr>
          <p:nvPr/>
        </p:nvCxnSpPr>
        <p:spPr>
          <a:xfrm>
            <a:off x="7203229" y="3265714"/>
            <a:ext cx="459066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B0BAA2-6010-EFA3-BFFB-7AC16BDABB36}"/>
              </a:ext>
            </a:extLst>
          </p:cNvPr>
          <p:cNvSpPr txBox="1"/>
          <p:nvPr/>
        </p:nvSpPr>
        <p:spPr>
          <a:xfrm>
            <a:off x="10256974" y="2905713"/>
            <a:ext cx="111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11.63%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2D14C9-9AFD-05C5-170E-DA9E048AEA0B}"/>
              </a:ext>
            </a:extLst>
          </p:cNvPr>
          <p:cNvSpPr txBox="1"/>
          <p:nvPr/>
        </p:nvSpPr>
        <p:spPr>
          <a:xfrm>
            <a:off x="8380549" y="2905713"/>
            <a:ext cx="111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8.56%</a:t>
            </a:r>
          </a:p>
        </p:txBody>
      </p:sp>
    </p:spTree>
    <p:extLst>
      <p:ext uri="{BB962C8B-B14F-4D97-AF65-F5344CB8AC3E}">
        <p14:creationId xmlns:p14="http://schemas.microsoft.com/office/powerpoint/2010/main" val="441004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D139-CEBF-3898-4B66-1603D292C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</a:t>
            </a:r>
            <a:br>
              <a:rPr lang="en-US" dirty="0"/>
            </a:br>
            <a:r>
              <a:rPr lang="en-US" dirty="0"/>
              <a:t>Abnormal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13003-B604-9EBC-7FB0-7B079F3C5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371" y="1825625"/>
            <a:ext cx="1119396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Inject a fault in the CouchDB container to measure performance metrics under abnormal scenarios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909ED1-B232-8DC0-9E7A-83162B474A07}"/>
              </a:ext>
            </a:extLst>
          </p:cNvPr>
          <p:cNvSpPr txBox="1"/>
          <p:nvPr/>
        </p:nvSpPr>
        <p:spPr>
          <a:xfrm>
            <a:off x="490654" y="3056054"/>
            <a:ext cx="4759217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300" dirty="0">
                <a:solidFill>
                  <a:srgbClr val="C00000"/>
                </a:solidFill>
              </a:rPr>
              <a:t>Send HTTP request to CouchDB to "switch on" the implemented faulty code.</a:t>
            </a:r>
          </a:p>
          <a:p>
            <a:pPr marL="342900" indent="-342900">
              <a:buAutoNum type="arabicPeriod"/>
            </a:pPr>
            <a:r>
              <a:rPr lang="en-US" sz="2300" dirty="0">
                <a:solidFill>
                  <a:schemeClr val="accent6">
                    <a:lumMod val="76000"/>
                  </a:schemeClr>
                </a:solidFill>
              </a:rPr>
              <a:t>CouchDB receives the request from peer.</a:t>
            </a:r>
          </a:p>
          <a:p>
            <a:pPr marL="342900" indent="-342900">
              <a:buAutoNum type="arabicPeriod"/>
            </a:pPr>
            <a:r>
              <a:rPr lang="en-US" sz="2300" dirty="0">
                <a:solidFill>
                  <a:srgbClr val="CC9B06"/>
                </a:solidFill>
              </a:rPr>
              <a:t>CouchDB returns the implemented error message, instead of processing it correctly.</a:t>
            </a:r>
          </a:p>
        </p:txBody>
      </p:sp>
      <p:pic>
        <p:nvPicPr>
          <p:cNvPr id="5" name="Picture 4" descr="A diagram of a structure manager&#10;&#10;AI-generated content may be incorrect.">
            <a:extLst>
              <a:ext uri="{FF2B5EF4-FFF2-40B4-BE49-F238E27FC236}">
                <a16:creationId xmlns:a16="http://schemas.microsoft.com/office/drawing/2014/main" id="{51ECFFFE-6FD5-F62F-A6AC-7117E93C4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585" y="2603183"/>
            <a:ext cx="5126990" cy="383603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F15FC-8E37-ACFE-7335-B39A3E65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3523294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D3F1-4917-947A-7D5B-EA4B18676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7AF9-7188-D9ED-443D-EFC95AA87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</a:t>
            </a:r>
            <a:br>
              <a:rPr lang="en-US" dirty="0"/>
            </a:br>
            <a:r>
              <a:rPr lang="en-US" dirty="0"/>
              <a:t>Abnormal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0108-29E5-8967-A2BC-0AFE846F8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371" y="1825625"/>
            <a:ext cx="1119396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Two error codes tested: 404 and 500</a:t>
            </a:r>
          </a:p>
          <a:p>
            <a:r>
              <a:rPr lang="en-US" dirty="0"/>
              <a:t>How to trigger: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Create the test-network using the modified CouchDB and Fabric container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Send HTTP request to CouchDB to toggle the error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Let CouchDB receive normal requests from the Fabric</a:t>
            </a:r>
          </a:p>
          <a:p>
            <a:r>
              <a:rPr lang="en-US" dirty="0"/>
              <a:t>Result: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 peer which receives the injected fault from the CouchDB failed to join the blockchain network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Transactions </a:t>
            </a:r>
            <a:r>
              <a:rPr lang="en-US"/>
              <a:t>cannot</a:t>
            </a:r>
            <a:r>
              <a:rPr lang="en-US" dirty="0"/>
              <a:t> complete at all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00A7-352B-B88D-C675-1C0A5E4D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5228956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024EC-3DDC-770E-3F2D-BD6DBAE0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3FE6-74A9-B1DF-B7CF-C2F45FBE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6EE9-DBF6-F897-D66C-E4D53F590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trike="sngStrike" dirty="0"/>
              <a:t>Motivation</a:t>
            </a:r>
          </a:p>
          <a:p>
            <a:r>
              <a:rPr lang="en-US" strike="sngStrike" dirty="0"/>
              <a:t>Background</a:t>
            </a:r>
          </a:p>
          <a:p>
            <a:r>
              <a:rPr lang="en-US" strike="sngStrike" dirty="0"/>
              <a:t>Methodology</a:t>
            </a:r>
          </a:p>
          <a:p>
            <a:r>
              <a:rPr lang="en-US" strike="sngStrike" dirty="0"/>
              <a:t>Prototype and preliminary results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Discussion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58993-B9FA-ADD2-E899-0F5F42DC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5750689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BC21-1328-1301-8F2C-3A834D90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0588D-EC56-42BB-85AA-15B23A361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31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Designed the </a:t>
            </a:r>
            <a:r>
              <a:rPr lang="en-US" dirty="0" err="1"/>
              <a:t>BlockController</a:t>
            </a:r>
            <a:r>
              <a:rPr lang="en-US" dirty="0"/>
              <a:t> framework for blockchain dependency study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Enables fast multiple levels' configuration and integrated with benchmarking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Easy resource management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BE8B2-C946-1B72-33D9-F802BFDF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0777621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1294-79E3-3139-D957-C55C8ED90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176CC-C346-5ADB-EB10-806364222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5527"/>
            <a:ext cx="10506308" cy="452789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Make the </a:t>
            </a:r>
            <a:r>
              <a:rPr lang="en-US" dirty="0" err="1"/>
              <a:t>BlockController</a:t>
            </a:r>
            <a:r>
              <a:rPr lang="en-US" dirty="0"/>
              <a:t> more "generic"</a:t>
            </a:r>
          </a:p>
          <a:p>
            <a:r>
              <a:rPr lang="en-US" dirty="0"/>
              <a:t>Understand how each knob works, how these parameters </a:t>
            </a:r>
            <a:r>
              <a:rPr lang="en-US"/>
              <a:t>change the performance</a:t>
            </a:r>
            <a:endParaRPr lang="en-US" dirty="0"/>
          </a:p>
          <a:p>
            <a:r>
              <a:rPr lang="en-US"/>
              <a:t>Focus more on infrastructure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Reason: Infrastructure level change is less explored</a:t>
            </a:r>
            <a:endParaRPr lang="en-US" dirty="0"/>
          </a:p>
          <a:p>
            <a:r>
              <a:rPr lang="en-US" sz="2600"/>
              <a:t>Investigate conflicts among different validators </a:t>
            </a:r>
            <a:r>
              <a:rPr lang="en-US" sz="2600" dirty="0"/>
              <a:t>sharing hardware resource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200"/>
              <a:t>Understand the conflicts → Mitigate the conflicts</a:t>
            </a:r>
          </a:p>
          <a:p>
            <a:r>
              <a:rPr lang="en-US"/>
              <a:t>Start with existing setups (Related works)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See if their conclus</a:t>
            </a:r>
            <a:r>
              <a:rPr lang="en-US"/>
              <a:t>ion can still hold with changing configurations in infrastructures.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9F58F-23F3-0DC3-2FCB-C1B656E7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936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D472-2F32-A241-5A60-0A82F9751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work (cont'd)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D76BF-B180-D2F9-4DA4-F6AD5DAE8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06308" cy="48066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Explore bottlenecks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e.g., What part of the infrastructure may become bottleneck, What case will exhaust hardware resource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Research questions like "When the infrastructure can be bottleneck/underutilized"</a:t>
            </a:r>
          </a:p>
          <a:p>
            <a:r>
              <a:rPr lang="en-US" dirty="0"/>
              <a:t>Explore resource unavailability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Performance/System behavior under abnormal cases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Example: Network partition as an extreme case of availability issue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Need larger scaled testbeds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CC1BE-9736-C55B-C812-96A929F6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96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425CF-D6CF-9710-D5AC-F4937223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C57FE-7CE8-6D2A-879B-D27BD20D8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F700D-11E3-B23B-6040-4BE438A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trike="sngStrike" dirty="0"/>
              <a:t>Motivation</a:t>
            </a:r>
          </a:p>
          <a:p>
            <a:r>
              <a:rPr lang="en-US" strike="sngStrike" dirty="0"/>
              <a:t>Background</a:t>
            </a:r>
          </a:p>
          <a:p>
            <a:r>
              <a:rPr lang="en-US" strike="sngStrike" dirty="0"/>
              <a:t>Methodology</a:t>
            </a:r>
          </a:p>
          <a:p>
            <a:r>
              <a:rPr lang="en-US" strike="sngStrike" dirty="0"/>
              <a:t>Prototype and preliminary results</a:t>
            </a:r>
          </a:p>
          <a:p>
            <a:r>
              <a:rPr lang="en-US" strike="sngStrike" dirty="0"/>
              <a:t>Discussion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89CE-B983-A6E9-E341-E50B57243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7624640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62E60-2E2B-BB9D-7434-D517E1CBB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920" y="2793365"/>
            <a:ext cx="7101840" cy="1274763"/>
          </a:xfrm>
        </p:spPr>
        <p:txBody>
          <a:bodyPr/>
          <a:lstStyle/>
          <a:p>
            <a:r>
              <a:rPr lang="en-US" b="1"/>
              <a:t>THANK YOU! &amp; QUESTIONS?</a:t>
            </a:r>
          </a:p>
        </p:txBody>
      </p:sp>
    </p:spTree>
    <p:extLst>
      <p:ext uri="{BB962C8B-B14F-4D97-AF65-F5344CB8AC3E}">
        <p14:creationId xmlns:p14="http://schemas.microsoft.com/office/powerpoint/2010/main" val="13096382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FD4E4-5BB7-D919-CF92-FCA31CBE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Baseline Configurations – Application layer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14DF4B-9A2C-B1D9-D136-C888E3743554}"/>
              </a:ext>
            </a:extLst>
          </p:cNvPr>
          <p:cNvGraphicFramePr>
            <a:graphicFrameLocks noGrp="1"/>
          </p:cNvGraphicFramePr>
          <p:nvPr/>
        </p:nvGraphicFramePr>
        <p:xfrm>
          <a:off x="1523999" y="1793486"/>
          <a:ext cx="8544560" cy="3584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1380901736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3835786411"/>
                    </a:ext>
                  </a:extLst>
                </a:gridCol>
              </a:tblGrid>
              <a:tr h="597437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1">
                          <a:solidFill>
                            <a:schemeClr val="bg1"/>
                          </a:solidFill>
                        </a:rPr>
                        <a:t>Benchmark layer baseline configuration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4021"/>
                  </a:ext>
                </a:extLst>
              </a:tr>
              <a:tr h="597437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Number of workers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56667"/>
                  </a:ext>
                </a:extLst>
              </a:tr>
              <a:tr h="597437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Number of assets each worker creates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375513"/>
                  </a:ext>
                </a:extLst>
              </a:tr>
              <a:tr h="597437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Transaction Duration (sec)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37169"/>
                  </a:ext>
                </a:extLst>
              </a:tr>
              <a:tr h="597437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Transaction send rate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100 TPS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4992"/>
                  </a:ext>
                </a:extLst>
              </a:tr>
              <a:tr h="597437">
                <a:tc>
                  <a:txBody>
                    <a:bodyPr/>
                    <a:lstStyle/>
                    <a:p>
                      <a:r>
                        <a:rPr lang="en-US" sz="2200" b="1" err="1">
                          <a:solidFill>
                            <a:schemeClr val="tx1"/>
                          </a:solidFill>
                        </a:rPr>
                        <a:t>Read:Update</a:t>
                      </a: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 ratio in workload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0% Read, 100% Update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81389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C801C8-CD92-9C24-240B-17A94D56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475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61A1F-E849-B99C-94BC-60333F3C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AA9E9-B170-FE46-E07F-50C26A915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Baseline Configurations – Blockchain layer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D508FA-FA58-CE5F-5AD0-17F7F5391E1B}"/>
              </a:ext>
            </a:extLst>
          </p:cNvPr>
          <p:cNvGraphicFramePr>
            <a:graphicFrameLocks noGrp="1"/>
          </p:cNvGraphicFramePr>
          <p:nvPr/>
        </p:nvGraphicFramePr>
        <p:xfrm>
          <a:off x="1672682" y="1691267"/>
          <a:ext cx="8544558" cy="4823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39">
                  <a:extLst>
                    <a:ext uri="{9D8B030D-6E8A-4147-A177-3AD203B41FA5}">
                      <a16:colId xmlns:a16="http://schemas.microsoft.com/office/drawing/2014/main" val="1380901736"/>
                    </a:ext>
                  </a:extLst>
                </a:gridCol>
                <a:gridCol w="2966719">
                  <a:extLst>
                    <a:ext uri="{9D8B030D-6E8A-4147-A177-3AD203B41FA5}">
                      <a16:colId xmlns:a16="http://schemas.microsoft.com/office/drawing/2014/main" val="3835786411"/>
                    </a:ext>
                  </a:extLst>
                </a:gridCol>
              </a:tblGrid>
              <a:tr h="597437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1">
                          <a:solidFill>
                            <a:schemeClr val="bg1"/>
                          </a:solidFill>
                        </a:rPr>
                        <a:t>Blockchain layer baseline configurations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402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Fabric version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2.5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566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200" b="1" err="1">
                          <a:solidFill>
                            <a:schemeClr val="tx1"/>
                          </a:solidFill>
                        </a:rPr>
                        <a:t>Chaincode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asset-transfer-basic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37551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 err="1">
                          <a:solidFill>
                            <a:schemeClr val="tx1"/>
                          </a:solidFill>
                        </a:rPr>
                        <a:t>StateDB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CouchDB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797257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r>
                        <a:rPr lang="en-US" sz="2200" b="1" err="1">
                          <a:solidFill>
                            <a:schemeClr val="tx1"/>
                          </a:solidFill>
                        </a:rPr>
                        <a:t>totalQueryLimit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100000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37169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 err="1">
                          <a:solidFill>
                            <a:schemeClr val="tx1"/>
                          </a:solidFill>
                        </a:rPr>
                        <a:t>MaxMessageCount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4992"/>
                  </a:ext>
                </a:extLst>
              </a:tr>
              <a:tr h="497839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AbsoluteMaxBytes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10 MB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813892"/>
                  </a:ext>
                </a:extLst>
              </a:tr>
              <a:tr h="497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Number of Organizations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72439"/>
                  </a:ext>
                </a:extLst>
              </a:tr>
              <a:tr h="497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Number of peers per Organization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438168"/>
                  </a:ext>
                </a:extLst>
              </a:tr>
              <a:tr h="497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Number of endorsers per Organization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12599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CD6E7-1949-11D5-91E5-574C390B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063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C2638-5ACA-8924-EC5B-8DCA6908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DEC6E-9E6A-D00C-407B-001F9473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35A4-361D-6DD3-127E-C4C698BF4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312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Designed the </a:t>
            </a:r>
            <a:r>
              <a:rPr lang="en-US" dirty="0" err="1"/>
              <a:t>BlockController</a:t>
            </a:r>
            <a:r>
              <a:rPr lang="en-US" dirty="0"/>
              <a:t> framework for blockchain dependency study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Enables fast multiple levels' configuration and integrated with benchmarking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Easy resource management</a:t>
            </a:r>
          </a:p>
          <a:p>
            <a:r>
              <a:rPr lang="en-US" dirty="0"/>
              <a:t>Timeline for the future works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Late Dec: Workload classification based on typical use cases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Jan 2026: Simplified fault injection process and corresponding error cases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Feb 2026: Better peer configuration/scaling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May 2026: Automated configuration optimization (Examples: LLM or other tools,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And then: Extend the framework to other blockchains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C981-F2A4-4128-F6A0-B3D04421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4499284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BE7C-850F-EB5A-B62C-F1A42651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Baseline Configurations – Kubernetes Layer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73F98D-1518-FACE-8DB3-EDB8571BACC7}"/>
              </a:ext>
            </a:extLst>
          </p:cNvPr>
          <p:cNvGraphicFramePr>
            <a:graphicFrameLocks noGrp="1"/>
          </p:cNvGraphicFramePr>
          <p:nvPr/>
        </p:nvGraphicFramePr>
        <p:xfrm>
          <a:off x="715536" y="1719146"/>
          <a:ext cx="10200637" cy="464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0">
                  <a:extLst>
                    <a:ext uri="{9D8B030D-6E8A-4147-A177-3AD203B41FA5}">
                      <a16:colId xmlns:a16="http://schemas.microsoft.com/office/drawing/2014/main" val="1380901736"/>
                    </a:ext>
                  </a:extLst>
                </a:gridCol>
                <a:gridCol w="2275837">
                  <a:extLst>
                    <a:ext uri="{9D8B030D-6E8A-4147-A177-3AD203B41FA5}">
                      <a16:colId xmlns:a16="http://schemas.microsoft.com/office/drawing/2014/main" val="3835786411"/>
                    </a:ext>
                  </a:extLst>
                </a:gridCol>
              </a:tblGrid>
              <a:tr h="597437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1">
                          <a:solidFill>
                            <a:schemeClr val="bg1"/>
                          </a:solidFill>
                        </a:rPr>
                        <a:t>Kubernetes layer baseline configurations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402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CPU cores assigned to non-endorsing peer container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 cores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5666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CPU cores assigned to endorsing peer container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 cores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375513"/>
                  </a:ext>
                </a:extLst>
              </a:tr>
              <a:tr h="497839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RAM assigned to non-endorsing peer container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371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RAM assigned to endorsing peer container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499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Total number of CPU cores assigned to endorsing peer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10 cores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81389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Total size of RAM assigned to endorsing peer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10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17139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Total number of CPU cores assigned to non-endorsing peer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10 cores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77912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Total size of RAM assigned to non-endorsing peer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10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62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2557A3-DD8E-3AF0-CA8B-FDC1AB51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158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B77E-444F-3596-2DCC-450C131C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Baseline Configurations – Hardware layer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AA578E-5947-472A-3035-1832196692C8}"/>
              </a:ext>
            </a:extLst>
          </p:cNvPr>
          <p:cNvGraphicFramePr>
            <a:graphicFrameLocks noGrp="1"/>
          </p:cNvGraphicFramePr>
          <p:nvPr/>
        </p:nvGraphicFramePr>
        <p:xfrm>
          <a:off x="1523999" y="1691267"/>
          <a:ext cx="8544560" cy="4779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1380901736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3835786411"/>
                    </a:ext>
                  </a:extLst>
                </a:gridCol>
              </a:tblGrid>
              <a:tr h="597437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1">
                          <a:solidFill>
                            <a:schemeClr val="bg1"/>
                          </a:solidFill>
                        </a:rPr>
                        <a:t>Hardware layer baseline configuration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4021"/>
                  </a:ext>
                </a:extLst>
              </a:tr>
              <a:tr h="597437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Total number of CPU cores per machine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56667"/>
                  </a:ext>
                </a:extLst>
              </a:tr>
              <a:tr h="5974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CPU base speed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2.4 GHz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615549"/>
                  </a:ext>
                </a:extLst>
              </a:tr>
              <a:tr h="597437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RAM size per machine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64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375513"/>
                  </a:ext>
                </a:extLst>
              </a:tr>
              <a:tr h="597437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Storage medium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 SATA SSD, 2 HDDs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37169"/>
                  </a:ext>
                </a:extLst>
              </a:tr>
              <a:tr h="597437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Total disk space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2200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4992"/>
                  </a:ext>
                </a:extLst>
              </a:tr>
              <a:tr h="597437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Number of drives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813892"/>
                  </a:ext>
                </a:extLst>
              </a:tr>
              <a:tr h="5974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Bandwidth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941 </a:t>
                      </a:r>
                      <a:r>
                        <a:rPr lang="en-US" sz="2200" b="1" err="1">
                          <a:solidFill>
                            <a:schemeClr val="tx1"/>
                          </a:solidFill>
                        </a:rPr>
                        <a:t>Mbits</a:t>
                      </a: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/sec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26406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35A299-04A7-9262-0EBE-F1145339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483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75A0-E9ED-3120-6FE3-A6AF1C7CF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F5777-B94A-3A13-4F95-F6FF87982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Initial testbed implementation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Preliminary controller module to provision resources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Policy is based on domain knowledge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Describe fault injection module (In </a:t>
            </a:r>
            <a:r>
              <a:rPr lang="en-US" err="1"/>
              <a:t>Jobayer's</a:t>
            </a:r>
            <a:r>
              <a:rPr lang="en-US"/>
              <a:t> project)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Performance measurement and fault injection experiments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Show different results in these two parts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DFEF7-2452-475B-8056-70C7464A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193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E312A-1203-8E55-2D41-351DC1F41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D5D6-CAA5-4C2A-1AC5-3800223B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6C961-9762-404C-73A8-B0D3D63F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5527"/>
            <a:ext cx="10515600" cy="48903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Research Goal: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trike="sngStrike"/>
              <a:t>For different configurations in different layers, examine what kind of impact that tuning each parameter will bring to the performance.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0000"/>
                </a:solidFill>
              </a:rPr>
              <a:t>(Cover the dependency, refer to the SIGMOD paper, be more specific)</a:t>
            </a:r>
          </a:p>
          <a:p>
            <a:r>
              <a:rPr lang="en-US"/>
              <a:t>How to measure the performance: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Metrics: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/>
              <a:t>Goodput (Effective throughput)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/>
              <a:t>Success rate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/>
              <a:t>Latency (Max, Min, Avg)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/>
              <a:t>Types of transaction errors and their percentage</a:t>
            </a:r>
          </a:p>
          <a:p>
            <a:r>
              <a:rPr lang="en-US" sz="3200"/>
              <a:t>Solution: E2E testbed for better dependency studies</a:t>
            </a:r>
          </a:p>
          <a:p>
            <a:pPr lvl="3"/>
            <a:endParaRPr lang="en-US" sz="2200"/>
          </a:p>
          <a:p>
            <a:pPr lvl="2">
              <a:buFont typeface="Wingdings" panose="020B0604020202020204" pitchFamily="34" charset="0"/>
              <a:buChar char="§"/>
            </a:pP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E6686-BB26-C4D8-FB7A-EE981270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901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E1E4-F8E5-CAEA-62B0-D037FD148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3AB2D-9181-8838-B7DA-92CBBB76A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trike="sngStrike" dirty="0"/>
              <a:t>What makes blockchain popular</a:t>
            </a:r>
          </a:p>
          <a:p>
            <a:r>
              <a:rPr lang="en-US" dirty="0">
                <a:solidFill>
                  <a:srgbClr val="FF0000"/>
                </a:solidFill>
              </a:rPr>
              <a:t>Just tell why ppl like it/Show blockchain is robust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Don't ask question in the first point, show common beliefs that ppl believe blockchain is secured, immutable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Enhanced security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Increased efficiency and speed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trike="sngStrike" dirty="0"/>
              <a:t>Automation </a:t>
            </a:r>
            <a:r>
              <a:rPr lang="en-US" dirty="0"/>
              <a:t>Don’t show irrelevant things here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Show ppl assume blockchain is stable</a:t>
            </a:r>
          </a:p>
          <a:p>
            <a:r>
              <a:rPr lang="en-US" dirty="0"/>
              <a:t>But are they really robust enough?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Show a box like future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55BA7-E056-21B8-4F58-5AF4CF70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40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C917-CBA9-2EC7-4E5A-F661958F0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CD67D-9F41-5EB8-3C38-8102BFAA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</a:t>
            </a:r>
            <a:br>
              <a:rPr lang="en-US" dirty="0"/>
            </a:br>
            <a:r>
              <a:rPr lang="en-US" strike="sngStrike" dirty="0"/>
              <a:t>Optimize </a:t>
            </a:r>
            <a:r>
              <a:rPr lang="en-US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428A-87DC-9920-3413-D543ACCEF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When the TPS=150, goodput reached max value </a:t>
            </a:r>
            <a:r>
              <a:rPr lang="en-US">
                <a:solidFill>
                  <a:srgbClr val="FF0000"/>
                </a:solidFill>
              </a:rPr>
              <a:t>137.51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Strategy: Assign more CPU cores to endorser peer, less CPU cores to non-endorser peers</a:t>
            </a:r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8275E1-B42A-680C-26B1-0EF7D3BF1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897489"/>
              </p:ext>
            </p:extLst>
          </p:nvPr>
        </p:nvGraphicFramePr>
        <p:xfrm>
          <a:off x="81279" y="3298902"/>
          <a:ext cx="5311573" cy="2031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733">
                  <a:extLst>
                    <a:ext uri="{9D8B030D-6E8A-4147-A177-3AD203B41FA5}">
                      <a16:colId xmlns:a16="http://schemas.microsoft.com/office/drawing/2014/main" val="1380901736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3835786411"/>
                    </a:ext>
                  </a:extLst>
                </a:gridCol>
              </a:tblGrid>
              <a:tr h="425701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</a:rPr>
                        <a:t>Peer container baseline configurations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4021"/>
                  </a:ext>
                </a:extLst>
              </a:tr>
              <a:tr h="383966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CPU cores (non-endorsing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5666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CPU cores (endorsing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375513"/>
                  </a:ext>
                </a:extLst>
              </a:tr>
              <a:tr h="409008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RAM (non-endorsing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8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37169"/>
                  </a:ext>
                </a:extLst>
              </a:tr>
              <a:tr h="375619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RAM (endorsing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8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4992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90AB91D9-61F8-FA20-CE24-A2A83062EF39}"/>
              </a:ext>
            </a:extLst>
          </p:cNvPr>
          <p:cNvSpPr/>
          <p:nvPr/>
        </p:nvSpPr>
        <p:spPr>
          <a:xfrm>
            <a:off x="5439317" y="4148749"/>
            <a:ext cx="1315348" cy="348661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F68685-4E8F-CCA7-31D7-93150484F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266855"/>
              </p:ext>
            </p:extLst>
          </p:nvPr>
        </p:nvGraphicFramePr>
        <p:xfrm>
          <a:off x="6805464" y="3298902"/>
          <a:ext cx="5311573" cy="2031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733">
                  <a:extLst>
                    <a:ext uri="{9D8B030D-6E8A-4147-A177-3AD203B41FA5}">
                      <a16:colId xmlns:a16="http://schemas.microsoft.com/office/drawing/2014/main" val="1380901736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3835786411"/>
                    </a:ext>
                  </a:extLst>
                </a:gridCol>
              </a:tblGrid>
              <a:tr h="425701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</a:rPr>
                        <a:t>Peer container baseline configurations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4021"/>
                  </a:ext>
                </a:extLst>
              </a:tr>
              <a:tr h="383966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CPU cores (non-endorsing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5666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CPU cores (endorsing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375513"/>
                  </a:ext>
                </a:extLst>
              </a:tr>
              <a:tr h="409008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RAM (non-endorsing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8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37169"/>
                  </a:ext>
                </a:extLst>
              </a:tr>
              <a:tr h="375619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RAM (endorsing peer container)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8 GB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49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62E5FEE-B78B-F58B-2999-E04499DF3159}"/>
              </a:ext>
            </a:extLst>
          </p:cNvPr>
          <p:cNvSpPr txBox="1"/>
          <p:nvPr/>
        </p:nvSpPr>
        <p:spPr>
          <a:xfrm>
            <a:off x="5466080" y="3505200"/>
            <a:ext cx="1270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Resource </a:t>
            </a:r>
            <a:endParaRPr lang="en-US"/>
          </a:p>
          <a:p>
            <a:pPr algn="ctr"/>
            <a:r>
              <a:rPr lang="en-US" b="1"/>
              <a:t>Manager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87230A-B7CC-6F85-03AF-3A2020E5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379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33B73-5E1E-1B4B-06FB-821320FB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D81D8-5C1C-FBAC-5926-180421DB2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705"/>
            <a:ext cx="10515600" cy="50320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How to do the experiments?</a:t>
            </a:r>
          </a:p>
          <a:p>
            <a:r>
              <a:rPr lang="en-US"/>
              <a:t>What's the challenge in here?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Configuration space is huge (Put early in the motivation)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Identify some important configurations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Need to have justification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 problem to how to config the blockchain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Machine learned tuning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LLM AI agents to tune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Before doing this, we need some understanding on different impacts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Logic chain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Update the motivation part as well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Describe what we have done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092FC-9905-60F0-2F0F-DBDB8000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230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F5D7-CDDD-4266-B62B-8424B67C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existing challenges keep it backup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EFBD2-FA04-895D-A813-90F792BAC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Configuration space too huge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Hard to find the important configurations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"The performance boost observed by tuning Fabric parameters is merely the tip of the iceberg" (Li et al.@VLDB'23)</a:t>
            </a:r>
          </a:p>
          <a:p>
            <a:r>
              <a:rPr lang="en-US"/>
              <a:t>Configurating parameters is inconvenient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Configuration files scattered at many places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Inefficient to configure manually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Existing auto-tuning solutions also cannot cover cross-layer dependencies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2B393-E775-B217-6592-A1EAEB20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890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BF894-E48B-F031-CD5E-5797D31B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80B71-5D0A-8F94-6CC9-7FDE583D1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existing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86ED9-BF7C-BF01-8708-A4101E86C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Configuration space too huge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Hard to find the important configurations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"The performance boost observed by tuning Fabric parameters is merely the tip of the iceberg" (Li et al.@VLDB'23)</a:t>
            </a:r>
          </a:p>
          <a:p>
            <a:r>
              <a:rPr lang="en-US"/>
              <a:t>Configurating parameters is inconvenient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Configuration files scattered at many places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Inefficient to configure manually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Existing auto-tuning solutions also cannot cover cross-layer dependencies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6144B1-61F2-5CAE-B256-7780CE252A86}"/>
              </a:ext>
            </a:extLst>
          </p:cNvPr>
          <p:cNvSpPr/>
          <p:nvPr/>
        </p:nvSpPr>
        <p:spPr>
          <a:xfrm>
            <a:off x="-1" y="2091069"/>
            <a:ext cx="12191999" cy="2675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/>
              <a:t>How to automatically apply configurations while cover the dependencies?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D71A1-65F9-F198-0B9E-27FFE875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859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385E-2571-57CB-4B17-A255FB25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AC63-FCAE-B89E-4DB7-22CFF3FF8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0F7EE-AF71-2CD7-C4CA-CAC1C5462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Timeline for the future works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Some other configuration dependency works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Cite papers about </a:t>
            </a:r>
            <a:r>
              <a:rPr lang="en-US" err="1"/>
              <a:t>hadoop</a:t>
            </a:r>
            <a:r>
              <a:rPr lang="en-US"/>
              <a:t>, OpenStack, Tabassum's work (Check slack)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Complete implementation of the full </a:t>
            </a:r>
            <a:r>
              <a:rPr lang="en-US" err="1"/>
              <a:t>FabricController</a:t>
            </a:r>
            <a:r>
              <a:rPr lang="en-US"/>
              <a:t> framework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Simpler fault injection and corresponding </a:t>
            </a:r>
          </a:p>
          <a:p>
            <a:r>
              <a:rPr lang="en-US"/>
              <a:t>What do expect to finish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75CF0-84F3-F4FC-1E24-84AACED2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379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117FC-726D-98E1-AF14-B9ACFDDD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74823-61CA-273E-B404-2B4252791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is implemented in </a:t>
            </a:r>
            <a:r>
              <a:rPr lang="en-US" strike="sngStrike" err="1"/>
              <a:t>Fabric</a:t>
            </a:r>
            <a:r>
              <a:rPr lang="en-US" err="1"/>
              <a:t>BlockController</a:t>
            </a:r>
            <a:r>
              <a:rPr lang="en-US" dirty="0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Easy test network provisioning using ansible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Simplified test network recreation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Simplified resource managing for containers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Log recording for benchmarking results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Injected </a:t>
            </a:r>
            <a:r>
              <a:rPr lang="en-US" dirty="0" err="1"/>
              <a:t>statedb</a:t>
            </a:r>
            <a:r>
              <a:rPr lang="en-US" dirty="0"/>
              <a:t> fault</a:t>
            </a:r>
          </a:p>
          <a:p>
            <a:r>
              <a:rPr lang="en-US" dirty="0">
                <a:solidFill>
                  <a:srgbClr val="FF0000"/>
                </a:solidFill>
              </a:rPr>
              <a:t>Describe each component one by one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Checkout </a:t>
            </a:r>
            <a:r>
              <a:rPr lang="en-US" dirty="0" err="1"/>
              <a:t>runzhou's</a:t>
            </a:r>
            <a:r>
              <a:rPr lang="en-US" dirty="0"/>
              <a:t> IO slides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Merge fault injector with resource manager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B0EBF-7966-094A-AD57-E8EAD894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166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9D514-A81D-9136-B957-A4140734C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Preliminary experiments</a:t>
            </a:r>
            <a:br>
              <a:rPr lang="en-US"/>
            </a:br>
            <a:r>
              <a:rPr lang="en-US"/>
              <a:t>Hardware resource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007D-3D15-2CED-6B52-85E993263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155348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Applying the resource manager module...</a:t>
            </a:r>
          </a:p>
          <a:p>
            <a:r>
              <a:rPr lang="en-US" dirty="0"/>
              <a:t>Show the main message/finding here, summarize them here</a:t>
            </a:r>
          </a:p>
        </p:txBody>
      </p:sp>
      <p:pic>
        <p:nvPicPr>
          <p:cNvPr id="4" name="Picture 3" descr="A graph of blue bars&#10;&#10;AI-generated content may be incorrect.">
            <a:extLst>
              <a:ext uri="{FF2B5EF4-FFF2-40B4-BE49-F238E27FC236}">
                <a16:creationId xmlns:a16="http://schemas.microsoft.com/office/drawing/2014/main" id="{52F9B9BD-9ED6-E0A7-A40B-932FC4FB4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80" y="2429638"/>
            <a:ext cx="5689677" cy="43564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4840BF-80BE-F5BE-CF1A-CB79CEF2E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499" y="2429639"/>
            <a:ext cx="5689677" cy="43657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8E322-F463-9D82-1892-61334F65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944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72CD-7531-4136-D7C8-567A6A77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5880F-3362-2C60-19B4-007CEF55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What is blockchain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C4269-1AD7-D11B-BAE9-39C1A2EF2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4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 immutable transaction ledger, maintained within a distributed network of nodes</a:t>
            </a:r>
            <a:endParaRPr lang="en-US"/>
          </a:p>
          <a:p>
            <a:r>
              <a:rPr lang="en-US" dirty="0"/>
              <a:t>How does blockchain works?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Nodes validate transactions by a consensus protocol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Transactions grouped into blocks connected as a chain by hash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Each node (peer) maintains a copy of the ledger and the blocks</a:t>
            </a:r>
          </a:p>
          <a:p>
            <a:r>
              <a:rPr lang="en-US" dirty="0"/>
              <a:t>Two kinds of blockchain: Permissionless and Permissioned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Permissionless: Everyone can join without permission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Permissioned: Every participant must be verified to join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45841-883C-C8AB-830B-38C46EE3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585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9B10-25C9-12EB-2BB8-ED397FC1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Plan decision made here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24B88-76AA-85B0-67A2-EF5DBC474CAD}"/>
              </a:ext>
            </a:extLst>
          </p:cNvPr>
          <p:cNvSpPr txBox="1"/>
          <p:nvPr/>
        </p:nvSpPr>
        <p:spPr>
          <a:xfrm>
            <a:off x="3344333" y="1691010"/>
            <a:ext cx="8853603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Providing policies for blockchain/infrastructure configuration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Different configuration strategies based on domain knowledge: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000" strike="sngStrike" dirty="0"/>
              <a:t>Highest possible throughput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000" dirty="0"/>
              <a:t>Balanced/Unbalanced blockchain 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sz="2000" dirty="0"/>
              <a:t>Balanced resource allocation by reassigning hardware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Generate testing scenarios based on the strategies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Apply configuration combination based on testing scenarios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Simulate different resource, control resource/workload config to simulate different types of scenarios/different infra characteristics</a:t>
            </a:r>
          </a:p>
        </p:txBody>
      </p:sp>
      <p:pic>
        <p:nvPicPr>
          <p:cNvPr id="7" name="Content Placeholder 6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611D1653-DB88-287C-61F7-A201832C9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2866" y="1683385"/>
            <a:ext cx="3155331" cy="32438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92A4F-8C97-E9CE-B3E5-323B452A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304148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3516</Words>
  <Application>Microsoft Office PowerPoint</Application>
  <PresentationFormat>Widescreen</PresentationFormat>
  <Paragraphs>628</Paragraphs>
  <Slides>61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office theme</vt:lpstr>
      <vt:lpstr>Understanding Infrastructure Dependency in Blockchain Ecosystem</vt:lpstr>
      <vt:lpstr>Outline</vt:lpstr>
      <vt:lpstr>Motivation</vt:lpstr>
      <vt:lpstr>PowerPoint Presentation</vt:lpstr>
      <vt:lpstr>Motivation</vt:lpstr>
      <vt:lpstr>Motivation</vt:lpstr>
      <vt:lpstr>Motivation</vt:lpstr>
      <vt:lpstr>Motivation</vt:lpstr>
      <vt:lpstr>Motivation</vt:lpstr>
      <vt:lpstr>Motivation</vt:lpstr>
      <vt:lpstr>Limitations of the state of the art</vt:lpstr>
      <vt:lpstr>Limitations of the state of the art</vt:lpstr>
      <vt:lpstr>Limitations of the state of the art</vt:lpstr>
      <vt:lpstr>Outline</vt:lpstr>
      <vt:lpstr>What is blockchain</vt:lpstr>
      <vt:lpstr>What is Blockchain ecosystem</vt:lpstr>
      <vt:lpstr>What is Hyperledger Fabric</vt:lpstr>
      <vt:lpstr>Why Hyperledger Fabric</vt:lpstr>
      <vt:lpstr>Hyperledger Fabric Transaction workflow</vt:lpstr>
      <vt:lpstr>Outline</vt:lpstr>
      <vt:lpstr>Methodology</vt:lpstr>
      <vt:lpstr>Methodology</vt:lpstr>
      <vt:lpstr>Architecture </vt:lpstr>
      <vt:lpstr>Testing Plans</vt:lpstr>
      <vt:lpstr>Workload generator</vt:lpstr>
      <vt:lpstr>Blockchain Toolkit</vt:lpstr>
      <vt:lpstr>Infrastructure Manager</vt:lpstr>
      <vt:lpstr>Outline</vt:lpstr>
      <vt:lpstr>Preliminary prototype setup</vt:lpstr>
      <vt:lpstr>Preliminary prototype setup</vt:lpstr>
      <vt:lpstr>Preliminary experiments: Normal Scenario</vt:lpstr>
      <vt:lpstr>Preliminary experiments Normal Scenario</vt:lpstr>
      <vt:lpstr>Preliminary experiments Normal Scenario</vt:lpstr>
      <vt:lpstr>Preliminary experiments Normal Scenario</vt:lpstr>
      <vt:lpstr>Preliminary experiments Normal Scenario</vt:lpstr>
      <vt:lpstr>Preliminary experiments Normal Scenario</vt:lpstr>
      <vt:lpstr>Preliminary experiments Abnormal Scenario</vt:lpstr>
      <vt:lpstr>Preliminary experiments Abnormal Scenario</vt:lpstr>
      <vt:lpstr>Outline</vt:lpstr>
      <vt:lpstr>Conclusion</vt:lpstr>
      <vt:lpstr>Future work</vt:lpstr>
      <vt:lpstr>Future work (cont'd)</vt:lpstr>
      <vt:lpstr>Outline</vt:lpstr>
      <vt:lpstr>THANK YOU! &amp; QUESTIONS?</vt:lpstr>
      <vt:lpstr>Baseline Configurations – Application layer</vt:lpstr>
      <vt:lpstr>Baseline Configurations – Blockchain layer</vt:lpstr>
      <vt:lpstr>Conclusion &amp; Future work</vt:lpstr>
      <vt:lpstr>Baseline Configurations – Kubernetes Layer</vt:lpstr>
      <vt:lpstr>Baseline Configurations – Hardware layer</vt:lpstr>
      <vt:lpstr>PowerPoint Presentation</vt:lpstr>
      <vt:lpstr>Methodology</vt:lpstr>
      <vt:lpstr>Motivation</vt:lpstr>
      <vt:lpstr>Preliminary experiments Optimize performance</vt:lpstr>
      <vt:lpstr>Methodology</vt:lpstr>
      <vt:lpstr>Other existing challenges keep it backup slide</vt:lpstr>
      <vt:lpstr>Other existing challenges</vt:lpstr>
      <vt:lpstr>Discussions &amp; Future work</vt:lpstr>
      <vt:lpstr>Methodology</vt:lpstr>
      <vt:lpstr>Preliminary experiments Hardware resource allocation</vt:lpstr>
      <vt:lpstr>What is blockchain</vt:lpstr>
      <vt:lpstr>Testing Plan decision made here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Xu, Wei</cp:lastModifiedBy>
  <cp:revision>1196</cp:revision>
  <dcterms:created xsi:type="dcterms:W3CDTF">2025-11-19T03:33:49Z</dcterms:created>
  <dcterms:modified xsi:type="dcterms:W3CDTF">2026-01-28T03:35:22Z</dcterms:modified>
</cp:coreProperties>
</file>